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137160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365760" cy="13716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743200"/>
            <a:ext cx="365760" cy="1371600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114800"/>
            <a:ext cx="365760" cy="27432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548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0" kern="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DIGDATA × GOOGLE · STEP UP CAREER CHALLENGE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0972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Drove Impact.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1A73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years of Gemini Pro campaign data,</a:t>
            </a:r>
            <a:endParaRPr lang="en-US" sz="2400" dirty="0"/>
          </a:p>
          <a:p>
            <a:pPr indent="0" marL="0">
              <a:buNone/>
            </a:pPr>
            <a:r>
              <a:rPr lang="en-US" sz="2400" i="1" dirty="0">
                <a:solidFill>
                  <a:srgbClr val="1A73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decoded into the levers that matter.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14400" y="4023360"/>
            <a:ext cx="10515600" cy="0"/>
          </a:xfrm>
          <a:prstGeom prst="line">
            <a:avLst/>
          </a:prstGeom>
          <a:noFill/>
          <a:ln w="12700">
            <a:solidFill>
              <a:srgbClr val="E8E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206240"/>
            <a:ext cx="2377440" cy="7900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1A73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$10.6M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914400" y="5018227"/>
            <a:ext cx="237744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analysed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0" y="4206240"/>
            <a:ext cx="2377440" cy="7900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EA43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1,664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383280" y="5018227"/>
            <a:ext cx="237744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rows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52160" y="4206240"/>
            <a:ext cx="2377440" cy="7900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FBBC0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 → 32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5852160" y="5018227"/>
            <a:ext cx="237744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BLS · sig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21040" y="4206240"/>
            <a:ext cx="2377440" cy="79004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rgbClr val="34A8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240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8321040" y="5018227"/>
            <a:ext cx="2377440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tests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6217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 · Data Science route   ·   Submitted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GOT HERE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questions, four datasets, one answer.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640080" cy="640080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783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40480" y="180136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Brief: $10M / 8 weeks / 3 markets to drive Gemini Pro consideration &amp; sign-ups among 18-24s.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640080" cy="640080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06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54480" y="26517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840480" y="267004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1,664 weekly rows of historic spend up to Market × Channel × Campaign.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474720"/>
            <a:ext cx="640080" cy="640080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54480" y="35204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840480" y="35387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Two-proportion z-test on every brand-lift study. Keep only p&lt;0.05, drop the noise.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343400"/>
            <a:ext cx="640080" cy="640080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54480" y="4389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840480" y="440740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significant lift back to spend &amp; reach. Compute Cost Per Lifted User (CPLU).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5212080"/>
            <a:ext cx="640080" cy="640080"/>
          </a:xfrm>
          <a:prstGeom prst="ellipse">
            <a:avLst/>
          </a:prstGeom>
          <a:solidFill>
            <a:srgbClr val="1A73E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212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554480" y="52578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840480" y="527608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markets, channels, creatives. Surface the contradictions. Recommend.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 · Data Science · Gemini Pro Student Launch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72800" y="65653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1 OF 5 · MARKETS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 converts 3.8× more efficiently than UK &amp; DE.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acquisition on every dollar of historic spend.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657600" cy="4297680"/>
          </a:xfrm>
          <a:prstGeom prst="rect">
            <a:avLst/>
          </a:prstGeom>
          <a:solidFill>
            <a:srgbClr val="E8F0FE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1A73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3.8×</a:t>
            </a:r>
            <a:endParaRPr lang="en-US" sz="110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efficiency gap between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i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MENA and EU/UK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68680" y="4297680"/>
            <a:ext cx="3017520" cy="0"/>
          </a:xfrm>
          <a:prstGeom prst="line">
            <a:avLst/>
          </a:prstGeom>
          <a:noFill/>
          <a:ln w="12700">
            <a:solidFill>
              <a:srgbClr val="1A73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443484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UK / DE for awareness, push performance budget into EG &amp; SA.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0" y="15544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Acquisition by Market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1874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(USD per Gemini Pro sign-up)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2423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212080" y="2496312"/>
            <a:ext cx="1577157" cy="41148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4" name="Text 12"/>
          <p:cNvSpPr/>
          <p:nvPr/>
        </p:nvSpPr>
        <p:spPr>
          <a:xfrm>
            <a:off x="6880677" y="24231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$6.16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3291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EG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212080" y="3364992"/>
            <a:ext cx="1620683" cy="41148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7" name="Text 15"/>
          <p:cNvSpPr/>
          <p:nvPr/>
        </p:nvSpPr>
        <p:spPr>
          <a:xfrm>
            <a:off x="6924203" y="3291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$6.33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212080" y="4233672"/>
            <a:ext cx="5952744" cy="411480"/>
          </a:xfrm>
          <a:prstGeom prst="rect">
            <a:avLst/>
          </a:prstGeom>
          <a:solidFill>
            <a:srgbClr val="80868B"/>
          </a:solidFill>
          <a:ln/>
        </p:spPr>
      </p:sp>
      <p:sp>
        <p:nvSpPr>
          <p:cNvPr id="20" name="Text 18"/>
          <p:cNvSpPr/>
          <p:nvPr/>
        </p:nvSpPr>
        <p:spPr>
          <a:xfrm>
            <a:off x="11256264" y="41605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$23.25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0" y="5029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UK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212080" y="5102352"/>
            <a:ext cx="6067958" cy="411480"/>
          </a:xfrm>
          <a:prstGeom prst="rect">
            <a:avLst/>
          </a:prstGeom>
          <a:solidFill>
            <a:srgbClr val="80868B"/>
          </a:solidFill>
          <a:ln/>
        </p:spPr>
      </p:sp>
      <p:sp>
        <p:nvSpPr>
          <p:cNvPr id="23" name="Text 21"/>
          <p:cNvSpPr/>
          <p:nvPr/>
        </p:nvSpPr>
        <p:spPr>
          <a:xfrm>
            <a:off x="11371478" y="5029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$23.70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0" y="548640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 &amp; SA also lead on Conversion Rate (0.18-0.20% vs 0.05% in UK/DE) and on average CPLU ($0.31 vs $0.41).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 · Data Science · Gemini Pro Student Launch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0" y="65653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0" kern="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2 OF 5 · CHANNELS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looks cheap on impressions and fails on every metric that matters.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5760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6596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A43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3017520" y="20574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F63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/16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stat-sig brand-lift studies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79476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CE8E6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7947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noise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429768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16 Display brand-lift studies across markets and campaigns, every single one returned p &gt; 0.05. There is no measurable consideration shift to optimise 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1691640"/>
            <a:ext cx="365760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96596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A43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$57</a:t>
            </a:r>
            <a:endParaRPr lang="en-US" sz="7200" dirty="0"/>
          </a:p>
        </p:txBody>
      </p:sp>
      <p:sp>
        <p:nvSpPr>
          <p:cNvPr id="13" name="Text 11"/>
          <p:cNvSpPr/>
          <p:nvPr/>
        </p:nvSpPr>
        <p:spPr>
          <a:xfrm>
            <a:off x="46634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cost per acquisition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379476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CE8E6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37947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 Search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429768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CPM is the cheapest at $4.00, but conversion rate of 0.007% means each sign-up costs ten times more than Search ($5.76).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0" y="1691640"/>
            <a:ext cx="365760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0" y="196596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A43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0.01</a:t>
            </a:r>
            <a:endParaRPr lang="en-US" sz="7200" dirty="0"/>
          </a:p>
        </p:txBody>
      </p:sp>
      <p:sp>
        <p:nvSpPr>
          <p:cNvPr id="19" name="Text 17"/>
          <p:cNvSpPr/>
          <p:nvPr/>
        </p:nvSpPr>
        <p:spPr>
          <a:xfrm>
            <a:off x="10698480" y="20574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F63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50392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503920" y="379476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CE8E6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37947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CVR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503920" y="4297680"/>
            <a:ext cx="3200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is enormous (92M unique users) but the format simply doesn't move students from view to action. Awareness without follow-through.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 Drop Display. Recoup the ~17% of historic spend it consumed and redeploy to YouTube + Social.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 · Data Science · Gemini Pro Student Launch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0" y="65653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3 OF 5 · CHANNEL × LIFT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and Social are the only channels that move consideration, efficiently.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Cost Per Lifted User across statistically-significant studies only.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94560" y="1554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06240" y="1554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760720" y="1554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CPLU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0" y="15544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874520"/>
            <a:ext cx="1097280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0574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194560" y="2203704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/>
        </p:spPr>
      </p:sp>
      <p:sp>
        <p:nvSpPr>
          <p:cNvPr id="13" name="Text 11"/>
          <p:cNvSpPr/>
          <p:nvPr/>
        </p:nvSpPr>
        <p:spPr>
          <a:xfrm>
            <a:off x="2194560" y="220370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06240" y="20574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$5.76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60720" y="20574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0" y="20574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CPA. No brand lift.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880360"/>
            <a:ext cx="11247120" cy="77724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9260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YouTube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2194560" y="3072384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/>
        </p:spPr>
      </p:sp>
      <p:sp>
        <p:nvSpPr>
          <p:cNvPr id="20" name="Text 18"/>
          <p:cNvSpPr/>
          <p:nvPr/>
        </p:nvSpPr>
        <p:spPr>
          <a:xfrm>
            <a:off x="2194560" y="307238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06240" y="2926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$14.26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760720" y="2926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$0.37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15200" y="29260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 relative lift avg.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749040"/>
            <a:ext cx="11247120" cy="77724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7947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2194560" y="3941064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E8F0FE"/>
          </a:solidFill>
          <a:ln/>
        </p:spPr>
      </p:sp>
      <p:sp>
        <p:nvSpPr>
          <p:cNvPr id="27" name="Text 25"/>
          <p:cNvSpPr/>
          <p:nvPr/>
        </p:nvSpPr>
        <p:spPr>
          <a:xfrm>
            <a:off x="2194560" y="394106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206240" y="3794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$14.22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760720" y="37947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$0.35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315200" y="37947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relative lift avg.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617720"/>
            <a:ext cx="11247120" cy="777240"/>
          </a:xfrm>
          <a:prstGeom prst="rect">
            <a:avLst/>
          </a:prstGeom>
          <a:solidFill>
            <a:srgbClr val="FCE8E6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46634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1F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Display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2194560" y="4809744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FCE8E6"/>
          </a:solidFill>
          <a:ln/>
        </p:spPr>
      </p:sp>
      <p:sp>
        <p:nvSpPr>
          <p:cNvPr id="34" name="Text 32"/>
          <p:cNvSpPr/>
          <p:nvPr/>
        </p:nvSpPr>
        <p:spPr>
          <a:xfrm>
            <a:off x="2194560" y="48097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206240" y="46634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$57.29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760720" y="46634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n/a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315200" y="46634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stat-sig lift.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 Three jobs, three channels: YouTube + Social drive consideration; Search captures demand. Skip Display.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 · Data Science · Gemini Pro Student Launch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72800" y="65653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4 OF 5 · CPLU EFFICIENCY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 and Saudi on YouTube &amp; Social move students for under $0.30 each.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8 lowest CPLU, among the 32 statistically significant brand-lift studies.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840480" y="15087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937760" y="1508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126480" y="15087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 LIFT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680960" y="1508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 LIFT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0" y="1508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CPLU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1783080"/>
            <a:ext cx="10972800" cy="0"/>
          </a:xfrm>
          <a:prstGeom prst="line">
            <a:avLst/>
          </a:prstGeom>
          <a:noFill/>
          <a:ln w="12700">
            <a:solidFill>
              <a:srgbClr val="1F1F1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883664"/>
            <a:ext cx="11247120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1883664"/>
            <a:ext cx="91440" cy="36576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9202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NewYear_24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0" y="19202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19202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19202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+11.6pp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680960" y="19202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0" y="19202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$0.26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2267712"/>
            <a:ext cx="91440" cy="36576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3042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ExamPrep_23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40480" y="230428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230428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26480" y="230428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+12.3pp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680960" y="23042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82%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0" y="23042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$0.28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2651760"/>
            <a:ext cx="11247120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" y="2651760"/>
            <a:ext cx="91440" cy="36576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268833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BackToSchool_24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840480" y="268833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37760" y="268833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26480" y="268833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+12.2pp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680960" y="268833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81%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144000" y="268833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$0.28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48640" y="307238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BackToSchool_24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840480" y="307238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937760" y="307238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126480" y="307238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+12.8pp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680960" y="307238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86%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144000" y="307238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$0.28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57200" y="3419856"/>
            <a:ext cx="11247120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42" name="Text 40"/>
          <p:cNvSpPr/>
          <p:nvPr/>
        </p:nvSpPr>
        <p:spPr>
          <a:xfrm>
            <a:off x="548640" y="345643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BackToSchool_24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840480" y="34564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937760" y="345643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126480" y="34564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+11.1pp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680960" y="34564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75%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144000" y="34564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$0.29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48640" y="38404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NewYear_24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3840480" y="38404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937760" y="38404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126480" y="38404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+11.7pp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680960" y="38404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78%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9144000" y="38404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$0.29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457200" y="4187952"/>
            <a:ext cx="11247120" cy="3657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55" name="Text 53"/>
          <p:cNvSpPr/>
          <p:nvPr/>
        </p:nvSpPr>
        <p:spPr>
          <a:xfrm>
            <a:off x="548640" y="42245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NewYear_24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3840480" y="422452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4937760" y="422452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126480" y="422452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+11.1pp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7680960" y="42245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74%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9144000" y="42245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$0.31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548640" y="460857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ExamPrep_23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3840480" y="460857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4937760" y="460857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6126480" y="460857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+10.7pp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7680960" y="460857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71%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9144000" y="460857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$0.32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548640" y="5212080"/>
            <a:ext cx="10972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77240" y="5349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777240" y="562356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top-8 results sit in MENA on YouTube or Social. The cheapest UK efficiency was 'ExamPrep_23 UK YouTube' at $0.32, still 23% more expensive than the best MENA result. Display does not appear at all because none of its studies were significant.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 · Data Science · Gemini Pro Student Launch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10972800" y="65653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5 OF 5 · CREATIVE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Hack tops the consideration board in every market and every channel.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6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creative testing lift, 18-24 age group, across 4 markets × 4 channels.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4114800" cy="443484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659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 Hack.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BBC0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+10.1pp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777240" y="38862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0C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consideration lift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C0C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students (18-24)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4617720"/>
            <a:ext cx="3657600" cy="0"/>
          </a:xfrm>
          <a:prstGeom prst="line">
            <a:avLst/>
          </a:prstGeom>
          <a:noFill/>
          <a:ln w="12700">
            <a:solidFill>
              <a:srgbClr val="4040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475488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3.3× the lift of #2 (Coding Help · +3.0pp).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16.8× the lift of #5 (Free Trial · +0.6pp).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645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consideration lift (pp), 18-24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231343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Hack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377440"/>
            <a:ext cx="4790375" cy="27432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14" name="Text 12"/>
          <p:cNvSpPr/>
          <p:nvPr/>
        </p:nvSpPr>
        <p:spPr>
          <a:xfrm>
            <a:off x="11282615" y="23134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73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+10.11pp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309067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Help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3154680"/>
            <a:ext cx="1435691" cy="274320"/>
          </a:xfrm>
          <a:prstGeom prst="rect">
            <a:avLst/>
          </a:prstGeom>
          <a:solidFill>
            <a:srgbClr val="5F6368"/>
          </a:solidFill>
          <a:ln/>
        </p:spPr>
      </p:sp>
      <p:sp>
        <p:nvSpPr>
          <p:cNvPr id="17" name="Text 15"/>
          <p:cNvSpPr/>
          <p:nvPr/>
        </p:nvSpPr>
        <p:spPr>
          <a:xfrm>
            <a:off x="7927931" y="309067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+3.03pp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386791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With Me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0" y="3931920"/>
            <a:ext cx="1293543" cy="274320"/>
          </a:xfrm>
          <a:prstGeom prst="rect">
            <a:avLst/>
          </a:prstGeom>
          <a:solidFill>
            <a:srgbClr val="5F6368"/>
          </a:solidFill>
          <a:ln/>
        </p:spPr>
      </p:sp>
      <p:sp>
        <p:nvSpPr>
          <p:cNvPr id="20" name="Text 18"/>
          <p:cNvSpPr/>
          <p:nvPr/>
        </p:nvSpPr>
        <p:spPr>
          <a:xfrm>
            <a:off x="7785783" y="386791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+2.73pp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464515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Booster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0" y="4709160"/>
            <a:ext cx="862362" cy="274320"/>
          </a:xfrm>
          <a:prstGeom prst="rect">
            <a:avLst/>
          </a:prstGeom>
          <a:solidFill>
            <a:srgbClr val="5F6368"/>
          </a:solidFill>
          <a:ln/>
        </p:spPr>
      </p:sp>
      <p:sp>
        <p:nvSpPr>
          <p:cNvPr id="23" name="Text 21"/>
          <p:cNvSpPr/>
          <p:nvPr/>
        </p:nvSpPr>
        <p:spPr>
          <a:xfrm>
            <a:off x="7354602" y="46451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+1.82pp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0" y="542239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Trial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0" y="5486400"/>
            <a:ext cx="284295" cy="274320"/>
          </a:xfrm>
          <a:prstGeom prst="rect">
            <a:avLst/>
          </a:prstGeom>
          <a:solidFill>
            <a:srgbClr val="80868B"/>
          </a:solidFill>
          <a:ln/>
        </p:spPr>
      </p:sp>
      <p:sp>
        <p:nvSpPr>
          <p:cNvPr id="26" name="Text 24"/>
          <p:cNvSpPr/>
          <p:nvPr/>
        </p:nvSpPr>
        <p:spPr>
          <a:xfrm>
            <a:off x="6776535" y="54223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3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+0.60pp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 Lead all paid media with Life Hack. Localise, don't replace.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65653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 · Data Science · Gemini Pro Student Launch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972800" y="65653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0" kern="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TAKEAWAYS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the strategist team only reads one slide, this one.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BBC0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2057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are not equal.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583680" y="207568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 (EG/SA) converts at ~$6 CPA. UK/DE convert at ~$24. Push performance to MENA, keep brand role for UK.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8529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BBC0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371600" y="28986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is dead weight.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83680" y="2916936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significant brand lift in 16 studies. CPA $57. Drop it.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6941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BBC0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371600" y="373989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+ Social move people.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83680" y="3758184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CPLU $0.35-0.37, ~70% relative lift. Use them as the brand engine.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5354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BBC0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371600" y="458114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converts everyone.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83680" y="4599432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$5.76 CPA, 1.4% CVR. Always include, but it doesn't build the brand.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3766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BBC0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371600" y="54223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Hack is the universal creative.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583680" y="54406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5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 every market, every channel, 18-24. Localise, don't replace.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08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Continued in Task B, Strategist recommendation.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Gemini Pro, What Drives Impact (Data Science)</dc:title>
  <dc:subject>PptxGenJS Presentation</dc:subject>
  <dc:creator>Digdata x Google Step Up Challenge</dc:creator>
  <cp:lastModifiedBy>Digdata x Google Step Up Challenge</cp:lastModifiedBy>
  <cp:revision>1</cp:revision>
  <dcterms:created xsi:type="dcterms:W3CDTF">2026-05-06T21:38:59Z</dcterms:created>
  <dcterms:modified xsi:type="dcterms:W3CDTF">2026-05-06T21:38:59Z</dcterms:modified>
</cp:coreProperties>
</file>