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65760" cy="1371600"/>
          </a:xfrm>
          <a:prstGeom prst="rect">
            <a:avLst/>
          </a:prstGeom>
          <a:solidFill>
            <a:srgbClr val="1A73E8"/>
          </a:solidFill>
          <a:ln/>
        </p:spPr>
      </p:sp>
      <p:sp>
        <p:nvSpPr>
          <p:cNvPr id="3" name="Shape 1"/>
          <p:cNvSpPr/>
          <p:nvPr/>
        </p:nvSpPr>
        <p:spPr>
          <a:xfrm>
            <a:off x="0" y="1371600"/>
            <a:ext cx="365760" cy="1371600"/>
          </a:xfrm>
          <a:prstGeom prst="rect">
            <a:avLst/>
          </a:prstGeom>
          <a:solidFill>
            <a:srgbClr val="EA4335"/>
          </a:solidFill>
          <a:ln/>
        </p:spPr>
      </p:sp>
      <p:sp>
        <p:nvSpPr>
          <p:cNvPr id="4" name="Shape 2"/>
          <p:cNvSpPr/>
          <p:nvPr/>
        </p:nvSpPr>
        <p:spPr>
          <a:xfrm>
            <a:off x="0" y="2743200"/>
            <a:ext cx="365760" cy="1371600"/>
          </a:xfrm>
          <a:prstGeom prst="rect">
            <a:avLst/>
          </a:prstGeom>
          <a:solidFill>
            <a:srgbClr val="F9AB00"/>
          </a:solidFill>
          <a:ln/>
        </p:spPr>
      </p:sp>
      <p:sp>
        <p:nvSpPr>
          <p:cNvPr id="5" name="Shape 3"/>
          <p:cNvSpPr/>
          <p:nvPr/>
        </p:nvSpPr>
        <p:spPr>
          <a:xfrm>
            <a:off x="0" y="4114800"/>
            <a:ext cx="365760" cy="2743200"/>
          </a:xfrm>
          <a:prstGeom prst="rect">
            <a:avLst/>
          </a:prstGeom>
          <a:solidFill>
            <a:srgbClr val="188038"/>
          </a:solidFill>
          <a:ln/>
        </p:spPr>
      </p:sp>
      <p:sp>
        <p:nvSpPr>
          <p:cNvPr id="6" name="Text 4"/>
          <p:cNvSpPr/>
          <p:nvPr/>
        </p:nvSpPr>
        <p:spPr>
          <a:xfrm>
            <a:off x="914400" y="548640"/>
            <a:ext cx="9144000" cy="365760"/>
          </a:xfrm>
          <a:prstGeom prst="rect">
            <a:avLst/>
          </a:prstGeom>
          <a:noFill/>
          <a:ln/>
        </p:spPr>
        <p:txBody>
          <a:bodyPr wrap="square" lIns="0" tIns="0" rIns="0" bIns="0" rtlCol="0" anchor="ctr"/>
          <a:lstStyle/>
          <a:p>
            <a:pPr indent="0" marL="0">
              <a:buNone/>
            </a:pPr>
            <a:r>
              <a:rPr lang="en-US" sz="1100" b="1" spc="1200" kern="0" dirty="0">
                <a:solidFill>
                  <a:srgbClr val="5F6368"/>
                </a:solidFill>
                <a:latin typeface="Calibri" pitchFamily="34" charset="0"/>
                <a:ea typeface="Calibri" pitchFamily="34" charset="-122"/>
                <a:cs typeface="Calibri" pitchFamily="34" charset="-120"/>
              </a:rPr>
              <a:t>DIGDATA × GOOGLE · STEP UP CAREER CHALLENGE</a:t>
            </a:r>
            <a:endParaRPr lang="en-US" sz="1100" dirty="0"/>
          </a:p>
        </p:txBody>
      </p:sp>
      <p:sp>
        <p:nvSpPr>
          <p:cNvPr id="7" name="Text 5"/>
          <p:cNvSpPr/>
          <p:nvPr/>
        </p:nvSpPr>
        <p:spPr>
          <a:xfrm>
            <a:off x="914400" y="1097280"/>
            <a:ext cx="10515600" cy="1280160"/>
          </a:xfrm>
          <a:prstGeom prst="rect">
            <a:avLst/>
          </a:prstGeom>
          <a:noFill/>
          <a:ln/>
        </p:spPr>
        <p:txBody>
          <a:bodyPr wrap="square" lIns="0" tIns="0" rIns="0" bIns="0" rtlCol="0" anchor="ctr"/>
          <a:lstStyle/>
          <a:p>
            <a:pPr indent="0" marL="0">
              <a:buNone/>
            </a:pPr>
            <a:r>
              <a:rPr lang="en-US" sz="6000" b="1" dirty="0">
                <a:solidFill>
                  <a:srgbClr val="1F1F1F"/>
                </a:solidFill>
                <a:latin typeface="Georgia" pitchFamily="34" charset="0"/>
                <a:ea typeface="Georgia" pitchFamily="34" charset="-122"/>
                <a:cs typeface="Georgia" pitchFamily="34" charset="-120"/>
              </a:rPr>
              <a:t>The Plan.</a:t>
            </a:r>
            <a:endParaRPr lang="en-US" sz="6000" dirty="0"/>
          </a:p>
        </p:txBody>
      </p:sp>
      <p:sp>
        <p:nvSpPr>
          <p:cNvPr id="8" name="Text 6"/>
          <p:cNvSpPr/>
          <p:nvPr/>
        </p:nvSpPr>
        <p:spPr>
          <a:xfrm>
            <a:off x="914400" y="2468880"/>
            <a:ext cx="10058400" cy="1097280"/>
          </a:xfrm>
          <a:prstGeom prst="rect">
            <a:avLst/>
          </a:prstGeom>
          <a:noFill/>
          <a:ln/>
        </p:spPr>
        <p:txBody>
          <a:bodyPr wrap="square" lIns="0" tIns="0" rIns="0" bIns="0" rtlCol="0" anchor="ctr"/>
          <a:lstStyle/>
          <a:p>
            <a:pPr indent="0" marL="0">
              <a:buNone/>
            </a:pPr>
            <a:r>
              <a:rPr lang="en-US" sz="2200" i="1" dirty="0">
                <a:solidFill>
                  <a:srgbClr val="1A73E8"/>
                </a:solidFill>
                <a:latin typeface="Georgia" pitchFamily="34" charset="0"/>
                <a:ea typeface="Georgia" pitchFamily="34" charset="-122"/>
                <a:cs typeface="Georgia" pitchFamily="34" charset="-120"/>
              </a:rPr>
              <a:t>$10M to win students.</a:t>
            </a:r>
            <a:endParaRPr lang="en-US" sz="2200" dirty="0"/>
          </a:p>
          <a:p>
            <a:pPr indent="0" marL="0">
              <a:buNone/>
            </a:pPr>
            <a:r>
              <a:rPr lang="en-US" sz="2200" i="1" dirty="0">
                <a:solidFill>
                  <a:srgbClr val="1A73E8"/>
                </a:solidFill>
                <a:latin typeface="Georgia" pitchFamily="34" charset="0"/>
                <a:ea typeface="Georgia" pitchFamily="34" charset="-122"/>
                <a:cs typeface="Georgia" pitchFamily="34" charset="-120"/>
              </a:rPr>
              <a:t>3 markets, 3 channels, 1 hero creative.</a:t>
            </a:r>
            <a:endParaRPr lang="en-US" sz="2200" dirty="0"/>
          </a:p>
        </p:txBody>
      </p:sp>
      <p:sp>
        <p:nvSpPr>
          <p:cNvPr id="9" name="Shape 7"/>
          <p:cNvSpPr/>
          <p:nvPr/>
        </p:nvSpPr>
        <p:spPr>
          <a:xfrm>
            <a:off x="914400" y="4114800"/>
            <a:ext cx="10515600" cy="0"/>
          </a:xfrm>
          <a:prstGeom prst="line">
            <a:avLst/>
          </a:prstGeom>
          <a:noFill/>
          <a:ln w="12700">
            <a:solidFill>
              <a:srgbClr val="DADCE0"/>
            </a:solidFill>
            <a:prstDash val="solid"/>
          </a:ln>
        </p:spPr>
      </p:sp>
      <p:sp>
        <p:nvSpPr>
          <p:cNvPr id="10" name="Text 8"/>
          <p:cNvSpPr/>
          <p:nvPr/>
        </p:nvSpPr>
        <p:spPr>
          <a:xfrm>
            <a:off x="914400" y="4297680"/>
            <a:ext cx="246888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MARKETS</a:t>
            </a:r>
            <a:endParaRPr lang="en-US" sz="900" dirty="0"/>
          </a:p>
        </p:txBody>
      </p:sp>
      <p:sp>
        <p:nvSpPr>
          <p:cNvPr id="11" name="Text 9"/>
          <p:cNvSpPr/>
          <p:nvPr/>
        </p:nvSpPr>
        <p:spPr>
          <a:xfrm>
            <a:off x="914400" y="4572000"/>
            <a:ext cx="2468880" cy="548640"/>
          </a:xfrm>
          <a:prstGeom prst="rect">
            <a:avLst/>
          </a:prstGeom>
          <a:noFill/>
          <a:ln/>
        </p:spPr>
        <p:txBody>
          <a:bodyPr wrap="square" lIns="0" tIns="0" rIns="0" bIns="0" rtlCol="0" anchor="ctr"/>
          <a:lstStyle/>
          <a:p>
            <a:pPr indent="0" marL="0">
              <a:buNone/>
            </a:pPr>
            <a:r>
              <a:rPr lang="en-US" sz="1800" b="1" dirty="0">
                <a:solidFill>
                  <a:srgbClr val="1A73E8"/>
                </a:solidFill>
                <a:latin typeface="Georgia" pitchFamily="34" charset="0"/>
                <a:ea typeface="Georgia" pitchFamily="34" charset="-122"/>
                <a:cs typeface="Georgia" pitchFamily="34" charset="-120"/>
              </a:rPr>
              <a:t>UK · EG · SA</a:t>
            </a:r>
            <a:endParaRPr lang="en-US" sz="1800" dirty="0"/>
          </a:p>
        </p:txBody>
      </p:sp>
      <p:sp>
        <p:nvSpPr>
          <p:cNvPr id="12" name="Text 10"/>
          <p:cNvSpPr/>
          <p:nvPr/>
        </p:nvSpPr>
        <p:spPr>
          <a:xfrm>
            <a:off x="3520440" y="4297680"/>
            <a:ext cx="246888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CHANNELS</a:t>
            </a:r>
            <a:endParaRPr lang="en-US" sz="900" dirty="0"/>
          </a:p>
        </p:txBody>
      </p:sp>
      <p:sp>
        <p:nvSpPr>
          <p:cNvPr id="13" name="Text 11"/>
          <p:cNvSpPr/>
          <p:nvPr/>
        </p:nvSpPr>
        <p:spPr>
          <a:xfrm>
            <a:off x="3520440" y="4572000"/>
            <a:ext cx="2468880" cy="548640"/>
          </a:xfrm>
          <a:prstGeom prst="rect">
            <a:avLst/>
          </a:prstGeom>
          <a:noFill/>
          <a:ln/>
        </p:spPr>
        <p:txBody>
          <a:bodyPr wrap="square" lIns="0" tIns="0" rIns="0" bIns="0" rtlCol="0" anchor="ctr"/>
          <a:lstStyle/>
          <a:p>
            <a:pPr indent="0" marL="0">
              <a:buNone/>
            </a:pPr>
            <a:r>
              <a:rPr lang="en-US" sz="1800" b="1" dirty="0">
                <a:solidFill>
                  <a:srgbClr val="EA4335"/>
                </a:solidFill>
                <a:latin typeface="Georgia" pitchFamily="34" charset="0"/>
                <a:ea typeface="Georgia" pitchFamily="34" charset="-122"/>
                <a:cs typeface="Georgia" pitchFamily="34" charset="-120"/>
              </a:rPr>
              <a:t>YouTube · Social · Search</a:t>
            </a:r>
            <a:endParaRPr lang="en-US" sz="1800" dirty="0"/>
          </a:p>
        </p:txBody>
      </p:sp>
      <p:sp>
        <p:nvSpPr>
          <p:cNvPr id="14" name="Text 12"/>
          <p:cNvSpPr/>
          <p:nvPr/>
        </p:nvSpPr>
        <p:spPr>
          <a:xfrm>
            <a:off x="6126480" y="4297680"/>
            <a:ext cx="246888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CREATIVE</a:t>
            </a:r>
            <a:endParaRPr lang="en-US" sz="900" dirty="0"/>
          </a:p>
        </p:txBody>
      </p:sp>
      <p:sp>
        <p:nvSpPr>
          <p:cNvPr id="15" name="Text 13"/>
          <p:cNvSpPr/>
          <p:nvPr/>
        </p:nvSpPr>
        <p:spPr>
          <a:xfrm>
            <a:off x="6126480" y="4572000"/>
            <a:ext cx="2468880" cy="548640"/>
          </a:xfrm>
          <a:prstGeom prst="rect">
            <a:avLst/>
          </a:prstGeom>
          <a:noFill/>
          <a:ln/>
        </p:spPr>
        <p:txBody>
          <a:bodyPr wrap="square" lIns="0" tIns="0" rIns="0" bIns="0" rtlCol="0" anchor="ctr"/>
          <a:lstStyle/>
          <a:p>
            <a:pPr indent="0" marL="0">
              <a:buNone/>
            </a:pPr>
            <a:r>
              <a:rPr lang="en-US" sz="1800" b="1" dirty="0">
                <a:solidFill>
                  <a:srgbClr val="F9AB00"/>
                </a:solidFill>
                <a:latin typeface="Georgia" pitchFamily="34" charset="0"/>
                <a:ea typeface="Georgia" pitchFamily="34" charset="-122"/>
                <a:cs typeface="Georgia" pitchFamily="34" charset="-120"/>
              </a:rPr>
              <a:t>Life Hack lead</a:t>
            </a:r>
            <a:endParaRPr lang="en-US" sz="1800" dirty="0"/>
          </a:p>
        </p:txBody>
      </p:sp>
      <p:sp>
        <p:nvSpPr>
          <p:cNvPr id="16" name="Text 14"/>
          <p:cNvSpPr/>
          <p:nvPr/>
        </p:nvSpPr>
        <p:spPr>
          <a:xfrm>
            <a:off x="8732520" y="4297680"/>
            <a:ext cx="246888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FORECAST</a:t>
            </a:r>
            <a:endParaRPr lang="en-US" sz="900" dirty="0"/>
          </a:p>
        </p:txBody>
      </p:sp>
      <p:sp>
        <p:nvSpPr>
          <p:cNvPr id="17" name="Text 15"/>
          <p:cNvSpPr/>
          <p:nvPr/>
        </p:nvSpPr>
        <p:spPr>
          <a:xfrm>
            <a:off x="8732520" y="4572000"/>
            <a:ext cx="2468880" cy="548640"/>
          </a:xfrm>
          <a:prstGeom prst="rect">
            <a:avLst/>
          </a:prstGeom>
          <a:noFill/>
          <a:ln/>
        </p:spPr>
        <p:txBody>
          <a:bodyPr wrap="square" lIns="0" tIns="0" rIns="0" bIns="0" rtlCol="0" anchor="ctr"/>
          <a:lstStyle/>
          <a:p>
            <a:pPr indent="0" marL="0">
              <a:buNone/>
            </a:pPr>
            <a:r>
              <a:rPr lang="en-US" sz="1800" b="1" dirty="0">
                <a:solidFill>
                  <a:srgbClr val="188038"/>
                </a:solidFill>
                <a:latin typeface="Georgia" pitchFamily="34" charset="0"/>
                <a:ea typeface="Georgia" pitchFamily="34" charset="-122"/>
                <a:cs typeface="Georgia" pitchFamily="34" charset="-120"/>
              </a:rPr>
              <a:t>~1.4M sign-ups</a:t>
            </a:r>
            <a:endParaRPr lang="en-US" sz="1800" dirty="0"/>
          </a:p>
        </p:txBody>
      </p:sp>
      <p:sp>
        <p:nvSpPr>
          <p:cNvPr id="18" name="Text 16"/>
          <p:cNvSpPr/>
          <p:nvPr/>
        </p:nvSpPr>
        <p:spPr>
          <a:xfrm>
            <a:off x="914400" y="6217920"/>
            <a:ext cx="10058400" cy="27432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Path B · Data Strategist route   ·   Submitted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THE OPPORTUNITY</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Gemini's student gap is also Gemini's biggest growth lever.</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What the brief tells us, distilled to one slide.</a:t>
            </a:r>
            <a:endParaRPr lang="en-US" sz="1200" dirty="0"/>
          </a:p>
        </p:txBody>
      </p:sp>
      <p:sp>
        <p:nvSpPr>
          <p:cNvPr id="5" name="Shape 3"/>
          <p:cNvSpPr/>
          <p:nvPr/>
        </p:nvSpPr>
        <p:spPr>
          <a:xfrm>
            <a:off x="548640" y="1691640"/>
            <a:ext cx="3657600" cy="4572000"/>
          </a:xfrm>
          <a:prstGeom prst="rect">
            <a:avLst/>
          </a:prstGeom>
          <a:solidFill>
            <a:srgbClr val="FFFFFF"/>
          </a:solidFill>
          <a:ln w="12700">
            <a:solidFill>
              <a:srgbClr val="DADCE0"/>
            </a:solidFill>
            <a:prstDash val="solid"/>
          </a:ln>
        </p:spPr>
      </p:sp>
      <p:sp>
        <p:nvSpPr>
          <p:cNvPr id="6" name="Shape 4"/>
          <p:cNvSpPr/>
          <p:nvPr/>
        </p:nvSpPr>
        <p:spPr>
          <a:xfrm>
            <a:off x="548640" y="1691640"/>
            <a:ext cx="3657600" cy="91440"/>
          </a:xfrm>
          <a:prstGeom prst="rect">
            <a:avLst/>
          </a:prstGeom>
          <a:solidFill>
            <a:srgbClr val="1A73E8"/>
          </a:solidFill>
          <a:ln/>
        </p:spPr>
      </p:sp>
      <p:sp>
        <p:nvSpPr>
          <p:cNvPr id="7" name="Text 5"/>
          <p:cNvSpPr/>
          <p:nvPr/>
        </p:nvSpPr>
        <p:spPr>
          <a:xfrm>
            <a:off x="822960" y="1920240"/>
            <a:ext cx="3200400" cy="274320"/>
          </a:xfrm>
          <a:prstGeom prst="rect">
            <a:avLst/>
          </a:prstGeom>
          <a:noFill/>
          <a:ln/>
        </p:spPr>
        <p:txBody>
          <a:bodyPr wrap="square" lIns="0" tIns="0" rIns="0" bIns="0" rtlCol="0" anchor="ctr"/>
          <a:lstStyle/>
          <a:p>
            <a:pPr indent="0" marL="0">
              <a:buNone/>
            </a:pPr>
            <a:r>
              <a:rPr lang="en-US" sz="1000" b="1" spc="800" kern="0" dirty="0">
                <a:solidFill>
                  <a:srgbClr val="1A73E8"/>
                </a:solidFill>
                <a:latin typeface="Calibri" pitchFamily="34" charset="0"/>
                <a:ea typeface="Calibri" pitchFamily="34" charset="-122"/>
                <a:cs typeface="Calibri" pitchFamily="34" charset="-120"/>
              </a:rPr>
              <a:t>SITUATION</a:t>
            </a:r>
            <a:endParaRPr lang="en-US" sz="1000" dirty="0"/>
          </a:p>
        </p:txBody>
      </p:sp>
      <p:sp>
        <p:nvSpPr>
          <p:cNvPr id="8" name="Text 6"/>
          <p:cNvSpPr/>
          <p:nvPr/>
        </p:nvSpPr>
        <p:spPr>
          <a:xfrm>
            <a:off x="822960" y="2240280"/>
            <a:ext cx="3200400" cy="914400"/>
          </a:xfrm>
          <a:prstGeom prst="rect">
            <a:avLst/>
          </a:prstGeom>
          <a:noFill/>
          <a:ln/>
        </p:spPr>
        <p:txBody>
          <a:bodyPr wrap="square" lIns="0" tIns="0" rIns="0" bIns="0"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92% of students use AI</a:t>
            </a:r>
            <a:endParaRPr lang="en-US" sz="2200" dirty="0"/>
          </a:p>
        </p:txBody>
      </p:sp>
      <p:sp>
        <p:nvSpPr>
          <p:cNvPr id="9" name="Text 7"/>
          <p:cNvSpPr/>
          <p:nvPr/>
        </p:nvSpPr>
        <p:spPr>
          <a:xfrm>
            <a:off x="822960" y="3337560"/>
            <a:ext cx="3200400" cy="2743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AI is a daily habit on campus. Across UK, DE, EG, SA, students rely on it for homework, revision, coding and writing. Gemini Pro, free until end of finals 2026, matches or beats every paid alternative.</a:t>
            </a:r>
            <a:endParaRPr lang="en-US" sz="1200" dirty="0"/>
          </a:p>
        </p:txBody>
      </p:sp>
      <p:sp>
        <p:nvSpPr>
          <p:cNvPr id="10" name="Shape 8"/>
          <p:cNvSpPr/>
          <p:nvPr/>
        </p:nvSpPr>
        <p:spPr>
          <a:xfrm>
            <a:off x="4389120" y="1691640"/>
            <a:ext cx="3657600" cy="4572000"/>
          </a:xfrm>
          <a:prstGeom prst="rect">
            <a:avLst/>
          </a:prstGeom>
          <a:solidFill>
            <a:srgbClr val="FFFFFF"/>
          </a:solidFill>
          <a:ln w="12700">
            <a:solidFill>
              <a:srgbClr val="DADCE0"/>
            </a:solidFill>
            <a:prstDash val="solid"/>
          </a:ln>
        </p:spPr>
      </p:sp>
      <p:sp>
        <p:nvSpPr>
          <p:cNvPr id="11" name="Shape 9"/>
          <p:cNvSpPr/>
          <p:nvPr/>
        </p:nvSpPr>
        <p:spPr>
          <a:xfrm>
            <a:off x="4389120" y="1691640"/>
            <a:ext cx="3657600" cy="91440"/>
          </a:xfrm>
          <a:prstGeom prst="rect">
            <a:avLst/>
          </a:prstGeom>
          <a:solidFill>
            <a:srgbClr val="EA4335"/>
          </a:solidFill>
          <a:ln/>
        </p:spPr>
      </p:sp>
      <p:sp>
        <p:nvSpPr>
          <p:cNvPr id="12" name="Text 10"/>
          <p:cNvSpPr/>
          <p:nvPr/>
        </p:nvSpPr>
        <p:spPr>
          <a:xfrm>
            <a:off x="4663440" y="1920240"/>
            <a:ext cx="3200400" cy="274320"/>
          </a:xfrm>
          <a:prstGeom prst="rect">
            <a:avLst/>
          </a:prstGeom>
          <a:noFill/>
          <a:ln/>
        </p:spPr>
        <p:txBody>
          <a:bodyPr wrap="square" lIns="0" tIns="0" rIns="0" bIns="0" rtlCol="0" anchor="ctr"/>
          <a:lstStyle/>
          <a:p>
            <a:pPr indent="0" marL="0">
              <a:buNone/>
            </a:pPr>
            <a:r>
              <a:rPr lang="en-US" sz="1000" b="1" spc="800" kern="0" dirty="0">
                <a:solidFill>
                  <a:srgbClr val="EA4335"/>
                </a:solidFill>
                <a:latin typeface="Calibri" pitchFamily="34" charset="0"/>
                <a:ea typeface="Calibri" pitchFamily="34" charset="-122"/>
                <a:cs typeface="Calibri" pitchFamily="34" charset="-120"/>
              </a:rPr>
              <a:t>COMPLICATION</a:t>
            </a:r>
            <a:endParaRPr lang="en-US" sz="1000" dirty="0"/>
          </a:p>
        </p:txBody>
      </p:sp>
      <p:sp>
        <p:nvSpPr>
          <p:cNvPr id="13" name="Text 11"/>
          <p:cNvSpPr/>
          <p:nvPr/>
        </p:nvSpPr>
        <p:spPr>
          <a:xfrm>
            <a:off x="4663440" y="2240280"/>
            <a:ext cx="3200400" cy="914400"/>
          </a:xfrm>
          <a:prstGeom prst="rect">
            <a:avLst/>
          </a:prstGeom>
          <a:noFill/>
          <a:ln/>
        </p:spPr>
        <p:txBody>
          <a:bodyPr wrap="square" lIns="0" tIns="0" rIns="0" bIns="0"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ChatGPT owns 80% SOV</a:t>
            </a:r>
            <a:endParaRPr lang="en-US" sz="2200" dirty="0"/>
          </a:p>
        </p:txBody>
      </p:sp>
      <p:sp>
        <p:nvSpPr>
          <p:cNvPr id="14" name="Text 12"/>
          <p:cNvSpPr/>
          <p:nvPr/>
        </p:nvSpPr>
        <p:spPr>
          <a:xfrm>
            <a:off x="4663440" y="3337560"/>
            <a:ext cx="3200400" cy="2743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In the UK, ChatGPT holds an 80/20 share of voice over Gemini. 18-24s are 46% less likely to consider Gemini after seeing it than 25-34s. The category is being defined by a single competitor.</a:t>
            </a:r>
            <a:endParaRPr lang="en-US" sz="1200" dirty="0"/>
          </a:p>
        </p:txBody>
      </p:sp>
      <p:sp>
        <p:nvSpPr>
          <p:cNvPr id="15" name="Shape 13"/>
          <p:cNvSpPr/>
          <p:nvPr/>
        </p:nvSpPr>
        <p:spPr>
          <a:xfrm>
            <a:off x="8229600" y="1691640"/>
            <a:ext cx="3657600" cy="4572000"/>
          </a:xfrm>
          <a:prstGeom prst="rect">
            <a:avLst/>
          </a:prstGeom>
          <a:solidFill>
            <a:srgbClr val="FFFFFF"/>
          </a:solidFill>
          <a:ln w="12700">
            <a:solidFill>
              <a:srgbClr val="DADCE0"/>
            </a:solidFill>
            <a:prstDash val="solid"/>
          </a:ln>
        </p:spPr>
      </p:sp>
      <p:sp>
        <p:nvSpPr>
          <p:cNvPr id="16" name="Shape 14"/>
          <p:cNvSpPr/>
          <p:nvPr/>
        </p:nvSpPr>
        <p:spPr>
          <a:xfrm>
            <a:off x="8229600" y="1691640"/>
            <a:ext cx="3657600" cy="91440"/>
          </a:xfrm>
          <a:prstGeom prst="rect">
            <a:avLst/>
          </a:prstGeom>
          <a:solidFill>
            <a:srgbClr val="188038"/>
          </a:solidFill>
          <a:ln/>
        </p:spPr>
      </p:sp>
      <p:sp>
        <p:nvSpPr>
          <p:cNvPr id="17" name="Text 15"/>
          <p:cNvSpPr/>
          <p:nvPr/>
        </p:nvSpPr>
        <p:spPr>
          <a:xfrm>
            <a:off x="8503920" y="1920240"/>
            <a:ext cx="3200400" cy="274320"/>
          </a:xfrm>
          <a:prstGeom prst="rect">
            <a:avLst/>
          </a:prstGeom>
          <a:noFill/>
          <a:ln/>
        </p:spPr>
        <p:txBody>
          <a:bodyPr wrap="square" lIns="0" tIns="0" rIns="0" bIns="0" rtlCol="0" anchor="ctr"/>
          <a:lstStyle/>
          <a:p>
            <a:pPr indent="0" marL="0">
              <a:buNone/>
            </a:pPr>
            <a:r>
              <a:rPr lang="en-US" sz="1000" b="1" spc="800" kern="0" dirty="0">
                <a:solidFill>
                  <a:srgbClr val="188038"/>
                </a:solidFill>
                <a:latin typeface="Calibri" pitchFamily="34" charset="0"/>
                <a:ea typeface="Calibri" pitchFamily="34" charset="-122"/>
                <a:cs typeface="Calibri" pitchFamily="34" charset="-120"/>
              </a:rPr>
              <a:t>OPPORTUNITY</a:t>
            </a:r>
            <a:endParaRPr lang="en-US" sz="1000" dirty="0"/>
          </a:p>
        </p:txBody>
      </p:sp>
      <p:sp>
        <p:nvSpPr>
          <p:cNvPr id="18" name="Text 16"/>
          <p:cNvSpPr/>
          <p:nvPr/>
        </p:nvSpPr>
        <p:spPr>
          <a:xfrm>
            <a:off x="8503920" y="2240280"/>
            <a:ext cx="3200400" cy="914400"/>
          </a:xfrm>
          <a:prstGeom prst="rect">
            <a:avLst/>
          </a:prstGeom>
          <a:noFill/>
          <a:ln/>
        </p:spPr>
        <p:txBody>
          <a:bodyPr wrap="square" lIns="0" tIns="0" rIns="0" bIns="0"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$10M · 8 weeks · 3 markets</a:t>
            </a:r>
            <a:endParaRPr lang="en-US" sz="2200" dirty="0"/>
          </a:p>
        </p:txBody>
      </p:sp>
      <p:sp>
        <p:nvSpPr>
          <p:cNvPr id="19" name="Text 17"/>
          <p:cNvSpPr/>
          <p:nvPr/>
        </p:nvSpPr>
        <p:spPr>
          <a:xfrm>
            <a:off x="8503920" y="3337560"/>
            <a:ext cx="3200400" cy="2743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A focused launch can convert habit-forming students into Gemini Pro sign-ups before exam season. Win the 18-24 cohort now and graduate them into long-term paid users post-2026.</a:t>
            </a:r>
            <a:endParaRPr lang="en-US" sz="1200" dirty="0"/>
          </a:p>
        </p:txBody>
      </p:sp>
      <p:sp>
        <p:nvSpPr>
          <p:cNvPr id="20" name="Text 18"/>
          <p:cNvSpPr/>
          <p:nvPr/>
        </p:nvSpPr>
        <p:spPr>
          <a:xfrm>
            <a:off x="548640" y="6355080"/>
            <a:ext cx="10972800" cy="274320"/>
          </a:xfrm>
          <a:prstGeom prst="rect">
            <a:avLst/>
          </a:prstGeom>
          <a:noFill/>
          <a:ln/>
        </p:spPr>
        <p:txBody>
          <a:bodyPr wrap="square" lIns="0" tIns="0" rIns="0" bIns="0" rtlCol="0" anchor="ctr"/>
          <a:lstStyle/>
          <a:p>
            <a:pPr indent="0" marL="0">
              <a:buNone/>
            </a:pPr>
            <a:r>
              <a:rPr lang="en-US" sz="1200" b="1" i="1" dirty="0">
                <a:solidFill>
                  <a:srgbClr val="1F1F1F"/>
                </a:solidFill>
                <a:latin typeface="Calibri" pitchFamily="34" charset="0"/>
                <a:ea typeface="Calibri" pitchFamily="34" charset="-122"/>
                <a:cs typeface="Calibri" pitchFamily="34" charset="-120"/>
              </a:rPr>
              <a:t>Brief: drive Gemini Pro consideration &amp; sign-ups among 18-24 university students before 15 September.</a:t>
            </a:r>
            <a:endParaRPr lang="en-US" sz="1200" dirty="0"/>
          </a:p>
        </p:txBody>
      </p:sp>
      <p:sp>
        <p:nvSpPr>
          <p:cNvPr id="21" name="Text 19"/>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22" name="Text 20"/>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2 / 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RECOMMENDATION 1 OF 4 · MARKETS</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Run in UK, Egypt and Saudi Arabia. Drop Germany.</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Three markets that maximise reach efficiency × strategic value.</a:t>
            </a:r>
            <a:endParaRPr lang="en-US" sz="1200" dirty="0"/>
          </a:p>
        </p:txBody>
      </p:sp>
      <p:sp>
        <p:nvSpPr>
          <p:cNvPr id="5" name="Shape 3"/>
          <p:cNvSpPr/>
          <p:nvPr/>
        </p:nvSpPr>
        <p:spPr>
          <a:xfrm>
            <a:off x="548640" y="1691640"/>
            <a:ext cx="2743200" cy="4114800"/>
          </a:xfrm>
          <a:prstGeom prst="rect">
            <a:avLst/>
          </a:prstGeom>
          <a:solidFill>
            <a:srgbClr val="FFFFFF"/>
          </a:solidFill>
          <a:ln w="12700">
            <a:solidFill>
              <a:srgbClr val="DADCE0"/>
            </a:solidFill>
            <a:prstDash val="solid"/>
          </a:ln>
        </p:spPr>
      </p:sp>
      <p:sp>
        <p:nvSpPr>
          <p:cNvPr id="6" name="Shape 4"/>
          <p:cNvSpPr/>
          <p:nvPr/>
        </p:nvSpPr>
        <p:spPr>
          <a:xfrm>
            <a:off x="548640" y="1691640"/>
            <a:ext cx="2743200" cy="457200"/>
          </a:xfrm>
          <a:prstGeom prst="rect">
            <a:avLst/>
          </a:prstGeom>
          <a:solidFill>
            <a:srgbClr val="188038"/>
          </a:solidFill>
          <a:ln/>
        </p:spPr>
      </p:sp>
      <p:sp>
        <p:nvSpPr>
          <p:cNvPr id="7" name="Text 5"/>
          <p:cNvSpPr/>
          <p:nvPr/>
        </p:nvSpPr>
        <p:spPr>
          <a:xfrm>
            <a:off x="731520" y="1755648"/>
            <a:ext cx="237744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PICK</a:t>
            </a:r>
            <a:endParaRPr lang="en-US" sz="1100" dirty="0"/>
          </a:p>
        </p:txBody>
      </p:sp>
      <p:sp>
        <p:nvSpPr>
          <p:cNvPr id="8" name="Text 6"/>
          <p:cNvSpPr/>
          <p:nvPr/>
        </p:nvSpPr>
        <p:spPr>
          <a:xfrm>
            <a:off x="731520" y="2331720"/>
            <a:ext cx="2377440" cy="640080"/>
          </a:xfrm>
          <a:prstGeom prst="rect">
            <a:avLst/>
          </a:prstGeom>
          <a:noFill/>
          <a:ln/>
        </p:spPr>
        <p:txBody>
          <a:bodyPr wrap="square" lIns="0" tIns="0" rIns="0" bIns="0" rtlCol="0" anchor="ctr"/>
          <a:lstStyle/>
          <a:p>
            <a:pPr indent="0" marL="0">
              <a:buNone/>
            </a:pPr>
            <a:r>
              <a:rPr lang="en-US" sz="4000" b="1" dirty="0">
                <a:solidFill>
                  <a:srgbClr val="1F1F1F"/>
                </a:solidFill>
                <a:latin typeface="Georgia" pitchFamily="34" charset="0"/>
                <a:ea typeface="Georgia" pitchFamily="34" charset="-122"/>
                <a:cs typeface="Georgia" pitchFamily="34" charset="-120"/>
              </a:rPr>
              <a:t>UK</a:t>
            </a:r>
            <a:endParaRPr lang="en-US" sz="4000" dirty="0"/>
          </a:p>
        </p:txBody>
      </p:sp>
      <p:sp>
        <p:nvSpPr>
          <p:cNvPr id="9" name="Text 7"/>
          <p:cNvSpPr/>
          <p:nvPr/>
        </p:nvSpPr>
        <p:spPr>
          <a:xfrm>
            <a:off x="731520" y="310896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ROLE</a:t>
            </a:r>
            <a:endParaRPr lang="en-US" sz="900" dirty="0"/>
          </a:p>
        </p:txBody>
      </p:sp>
      <p:sp>
        <p:nvSpPr>
          <p:cNvPr id="10" name="Text 8"/>
          <p:cNvSpPr/>
          <p:nvPr/>
        </p:nvSpPr>
        <p:spPr>
          <a:xfrm>
            <a:off x="731520" y="3337560"/>
            <a:ext cx="2377440" cy="365760"/>
          </a:xfrm>
          <a:prstGeom prst="rect">
            <a:avLst/>
          </a:prstGeom>
          <a:noFill/>
          <a:ln/>
        </p:spPr>
        <p:txBody>
          <a:bodyPr wrap="square" lIns="0" tIns="0" rIns="0" bIns="0" rtlCol="0" anchor="ctr"/>
          <a:lstStyle/>
          <a:p>
            <a:pPr indent="0" marL="0">
              <a:buNone/>
            </a:pPr>
            <a:r>
              <a:rPr lang="en-US" sz="1600" b="1" dirty="0">
                <a:solidFill>
                  <a:srgbClr val="188038"/>
                </a:solidFill>
                <a:latin typeface="Calibri" pitchFamily="34" charset="0"/>
                <a:ea typeface="Calibri" pitchFamily="34" charset="-122"/>
                <a:cs typeface="Calibri" pitchFamily="34" charset="-120"/>
              </a:rPr>
              <a:t>Defend</a:t>
            </a:r>
            <a:endParaRPr lang="en-US" sz="1600" dirty="0"/>
          </a:p>
        </p:txBody>
      </p:sp>
      <p:sp>
        <p:nvSpPr>
          <p:cNvPr id="11" name="Text 9"/>
          <p:cNvSpPr/>
          <p:nvPr/>
        </p:nvSpPr>
        <p:spPr>
          <a:xfrm>
            <a:off x="731520" y="374904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BUDGET</a:t>
            </a:r>
            <a:endParaRPr lang="en-US" sz="900" dirty="0"/>
          </a:p>
        </p:txBody>
      </p:sp>
      <p:sp>
        <p:nvSpPr>
          <p:cNvPr id="12" name="Text 10"/>
          <p:cNvSpPr/>
          <p:nvPr/>
        </p:nvSpPr>
        <p:spPr>
          <a:xfrm>
            <a:off x="731520" y="3977640"/>
            <a:ext cx="2377440" cy="36576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35%</a:t>
            </a:r>
            <a:endParaRPr lang="en-US" sz="1600" dirty="0"/>
          </a:p>
        </p:txBody>
      </p:sp>
      <p:sp>
        <p:nvSpPr>
          <p:cNvPr id="13" name="Text 11"/>
          <p:cNvSpPr/>
          <p:nvPr/>
        </p:nvSpPr>
        <p:spPr>
          <a:xfrm>
            <a:off x="731520" y="4434840"/>
            <a:ext cx="2377440" cy="128016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Brand HQ. Closes the 80/20 SOV gap. 2.9M students.</a:t>
            </a:r>
            <a:endParaRPr lang="en-US" sz="1100" dirty="0"/>
          </a:p>
        </p:txBody>
      </p:sp>
      <p:sp>
        <p:nvSpPr>
          <p:cNvPr id="14" name="Shape 12"/>
          <p:cNvSpPr/>
          <p:nvPr/>
        </p:nvSpPr>
        <p:spPr>
          <a:xfrm>
            <a:off x="3474720" y="1691640"/>
            <a:ext cx="2743200" cy="4114800"/>
          </a:xfrm>
          <a:prstGeom prst="rect">
            <a:avLst/>
          </a:prstGeom>
          <a:solidFill>
            <a:srgbClr val="FFFFFF"/>
          </a:solidFill>
          <a:ln w="12700">
            <a:solidFill>
              <a:srgbClr val="DADCE0"/>
            </a:solidFill>
            <a:prstDash val="solid"/>
          </a:ln>
        </p:spPr>
      </p:sp>
      <p:sp>
        <p:nvSpPr>
          <p:cNvPr id="15" name="Shape 13"/>
          <p:cNvSpPr/>
          <p:nvPr/>
        </p:nvSpPr>
        <p:spPr>
          <a:xfrm>
            <a:off x="3474720" y="1691640"/>
            <a:ext cx="2743200" cy="457200"/>
          </a:xfrm>
          <a:prstGeom prst="rect">
            <a:avLst/>
          </a:prstGeom>
          <a:solidFill>
            <a:srgbClr val="188038"/>
          </a:solidFill>
          <a:ln/>
        </p:spPr>
      </p:sp>
      <p:sp>
        <p:nvSpPr>
          <p:cNvPr id="16" name="Text 14"/>
          <p:cNvSpPr/>
          <p:nvPr/>
        </p:nvSpPr>
        <p:spPr>
          <a:xfrm>
            <a:off x="3657600" y="1755648"/>
            <a:ext cx="237744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PICK</a:t>
            </a:r>
            <a:endParaRPr lang="en-US" sz="1100" dirty="0"/>
          </a:p>
        </p:txBody>
      </p:sp>
      <p:sp>
        <p:nvSpPr>
          <p:cNvPr id="17" name="Text 15"/>
          <p:cNvSpPr/>
          <p:nvPr/>
        </p:nvSpPr>
        <p:spPr>
          <a:xfrm>
            <a:off x="3657600" y="2331720"/>
            <a:ext cx="2377440" cy="640080"/>
          </a:xfrm>
          <a:prstGeom prst="rect">
            <a:avLst/>
          </a:prstGeom>
          <a:noFill/>
          <a:ln/>
        </p:spPr>
        <p:txBody>
          <a:bodyPr wrap="square" lIns="0" tIns="0" rIns="0" bIns="0" rtlCol="0" anchor="ctr"/>
          <a:lstStyle/>
          <a:p>
            <a:pPr indent="0" marL="0">
              <a:buNone/>
            </a:pPr>
            <a:r>
              <a:rPr lang="en-US" sz="4000" b="1" dirty="0">
                <a:solidFill>
                  <a:srgbClr val="1F1F1F"/>
                </a:solidFill>
                <a:latin typeface="Georgia" pitchFamily="34" charset="0"/>
                <a:ea typeface="Georgia" pitchFamily="34" charset="-122"/>
                <a:cs typeface="Georgia" pitchFamily="34" charset="-120"/>
              </a:rPr>
              <a:t>EG</a:t>
            </a:r>
            <a:endParaRPr lang="en-US" sz="4000" dirty="0"/>
          </a:p>
        </p:txBody>
      </p:sp>
      <p:sp>
        <p:nvSpPr>
          <p:cNvPr id="18" name="Text 16"/>
          <p:cNvSpPr/>
          <p:nvPr/>
        </p:nvSpPr>
        <p:spPr>
          <a:xfrm>
            <a:off x="3657600" y="310896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ROLE</a:t>
            </a:r>
            <a:endParaRPr lang="en-US" sz="900" dirty="0"/>
          </a:p>
        </p:txBody>
      </p:sp>
      <p:sp>
        <p:nvSpPr>
          <p:cNvPr id="19" name="Text 17"/>
          <p:cNvSpPr/>
          <p:nvPr/>
        </p:nvSpPr>
        <p:spPr>
          <a:xfrm>
            <a:off x="3657600" y="3337560"/>
            <a:ext cx="2377440" cy="365760"/>
          </a:xfrm>
          <a:prstGeom prst="rect">
            <a:avLst/>
          </a:prstGeom>
          <a:noFill/>
          <a:ln/>
        </p:spPr>
        <p:txBody>
          <a:bodyPr wrap="square" lIns="0" tIns="0" rIns="0" bIns="0" rtlCol="0" anchor="ctr"/>
          <a:lstStyle/>
          <a:p>
            <a:pPr indent="0" marL="0">
              <a:buNone/>
            </a:pPr>
            <a:r>
              <a:rPr lang="en-US" sz="1600" b="1" dirty="0">
                <a:solidFill>
                  <a:srgbClr val="188038"/>
                </a:solidFill>
                <a:latin typeface="Calibri" pitchFamily="34" charset="0"/>
                <a:ea typeface="Calibri" pitchFamily="34" charset="-122"/>
                <a:cs typeface="Calibri" pitchFamily="34" charset="-120"/>
              </a:rPr>
              <a:t>Grow</a:t>
            </a:r>
            <a:endParaRPr lang="en-US" sz="1600" dirty="0"/>
          </a:p>
        </p:txBody>
      </p:sp>
      <p:sp>
        <p:nvSpPr>
          <p:cNvPr id="20" name="Text 18"/>
          <p:cNvSpPr/>
          <p:nvPr/>
        </p:nvSpPr>
        <p:spPr>
          <a:xfrm>
            <a:off x="3657600" y="374904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BUDGET</a:t>
            </a:r>
            <a:endParaRPr lang="en-US" sz="900" dirty="0"/>
          </a:p>
        </p:txBody>
      </p:sp>
      <p:sp>
        <p:nvSpPr>
          <p:cNvPr id="21" name="Text 19"/>
          <p:cNvSpPr/>
          <p:nvPr/>
        </p:nvSpPr>
        <p:spPr>
          <a:xfrm>
            <a:off x="3657600" y="3977640"/>
            <a:ext cx="2377440" cy="36576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35%</a:t>
            </a:r>
            <a:endParaRPr lang="en-US" sz="1600" dirty="0"/>
          </a:p>
        </p:txBody>
      </p:sp>
      <p:sp>
        <p:nvSpPr>
          <p:cNvPr id="22" name="Text 20"/>
          <p:cNvSpPr/>
          <p:nvPr/>
        </p:nvSpPr>
        <p:spPr>
          <a:xfrm>
            <a:off x="3657600" y="4434840"/>
            <a:ext cx="2377440" cy="128016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$6.33 CPA, lowest CPLU, 3.5M students. Mobile-first growth market.</a:t>
            </a:r>
            <a:endParaRPr lang="en-US" sz="1100" dirty="0"/>
          </a:p>
        </p:txBody>
      </p:sp>
      <p:sp>
        <p:nvSpPr>
          <p:cNvPr id="23" name="Shape 21"/>
          <p:cNvSpPr/>
          <p:nvPr/>
        </p:nvSpPr>
        <p:spPr>
          <a:xfrm>
            <a:off x="6400800" y="1691640"/>
            <a:ext cx="2743200" cy="4114800"/>
          </a:xfrm>
          <a:prstGeom prst="rect">
            <a:avLst/>
          </a:prstGeom>
          <a:solidFill>
            <a:srgbClr val="FFFFFF"/>
          </a:solidFill>
          <a:ln w="12700">
            <a:solidFill>
              <a:srgbClr val="DADCE0"/>
            </a:solidFill>
            <a:prstDash val="solid"/>
          </a:ln>
        </p:spPr>
      </p:sp>
      <p:sp>
        <p:nvSpPr>
          <p:cNvPr id="24" name="Shape 22"/>
          <p:cNvSpPr/>
          <p:nvPr/>
        </p:nvSpPr>
        <p:spPr>
          <a:xfrm>
            <a:off x="6400800" y="1691640"/>
            <a:ext cx="2743200" cy="457200"/>
          </a:xfrm>
          <a:prstGeom prst="rect">
            <a:avLst/>
          </a:prstGeom>
          <a:solidFill>
            <a:srgbClr val="188038"/>
          </a:solidFill>
          <a:ln/>
        </p:spPr>
      </p:sp>
      <p:sp>
        <p:nvSpPr>
          <p:cNvPr id="25" name="Text 23"/>
          <p:cNvSpPr/>
          <p:nvPr/>
        </p:nvSpPr>
        <p:spPr>
          <a:xfrm>
            <a:off x="6583680" y="1755648"/>
            <a:ext cx="237744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PICK</a:t>
            </a:r>
            <a:endParaRPr lang="en-US" sz="1100" dirty="0"/>
          </a:p>
        </p:txBody>
      </p:sp>
      <p:sp>
        <p:nvSpPr>
          <p:cNvPr id="26" name="Text 24"/>
          <p:cNvSpPr/>
          <p:nvPr/>
        </p:nvSpPr>
        <p:spPr>
          <a:xfrm>
            <a:off x="6583680" y="2331720"/>
            <a:ext cx="2377440" cy="640080"/>
          </a:xfrm>
          <a:prstGeom prst="rect">
            <a:avLst/>
          </a:prstGeom>
          <a:noFill/>
          <a:ln/>
        </p:spPr>
        <p:txBody>
          <a:bodyPr wrap="square" lIns="0" tIns="0" rIns="0" bIns="0" rtlCol="0" anchor="ctr"/>
          <a:lstStyle/>
          <a:p>
            <a:pPr indent="0" marL="0">
              <a:buNone/>
            </a:pPr>
            <a:r>
              <a:rPr lang="en-US" sz="4000" b="1" dirty="0">
                <a:solidFill>
                  <a:srgbClr val="1F1F1F"/>
                </a:solidFill>
                <a:latin typeface="Georgia" pitchFamily="34" charset="0"/>
                <a:ea typeface="Georgia" pitchFamily="34" charset="-122"/>
                <a:cs typeface="Georgia" pitchFamily="34" charset="-120"/>
              </a:rPr>
              <a:t>SA</a:t>
            </a:r>
            <a:endParaRPr lang="en-US" sz="4000" dirty="0"/>
          </a:p>
        </p:txBody>
      </p:sp>
      <p:sp>
        <p:nvSpPr>
          <p:cNvPr id="27" name="Text 25"/>
          <p:cNvSpPr/>
          <p:nvPr/>
        </p:nvSpPr>
        <p:spPr>
          <a:xfrm>
            <a:off x="6583680" y="310896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ROLE</a:t>
            </a:r>
            <a:endParaRPr lang="en-US" sz="900" dirty="0"/>
          </a:p>
        </p:txBody>
      </p:sp>
      <p:sp>
        <p:nvSpPr>
          <p:cNvPr id="28" name="Text 26"/>
          <p:cNvSpPr/>
          <p:nvPr/>
        </p:nvSpPr>
        <p:spPr>
          <a:xfrm>
            <a:off x="6583680" y="3337560"/>
            <a:ext cx="2377440" cy="365760"/>
          </a:xfrm>
          <a:prstGeom prst="rect">
            <a:avLst/>
          </a:prstGeom>
          <a:noFill/>
          <a:ln/>
        </p:spPr>
        <p:txBody>
          <a:bodyPr wrap="square" lIns="0" tIns="0" rIns="0" bIns="0" rtlCol="0" anchor="ctr"/>
          <a:lstStyle/>
          <a:p>
            <a:pPr indent="0" marL="0">
              <a:buNone/>
            </a:pPr>
            <a:r>
              <a:rPr lang="en-US" sz="1600" b="1" dirty="0">
                <a:solidFill>
                  <a:srgbClr val="188038"/>
                </a:solidFill>
                <a:latin typeface="Calibri" pitchFamily="34" charset="0"/>
                <a:ea typeface="Calibri" pitchFamily="34" charset="-122"/>
                <a:cs typeface="Calibri" pitchFamily="34" charset="-120"/>
              </a:rPr>
              <a:t>Grow</a:t>
            </a:r>
            <a:endParaRPr lang="en-US" sz="1600" dirty="0"/>
          </a:p>
        </p:txBody>
      </p:sp>
      <p:sp>
        <p:nvSpPr>
          <p:cNvPr id="29" name="Text 27"/>
          <p:cNvSpPr/>
          <p:nvPr/>
        </p:nvSpPr>
        <p:spPr>
          <a:xfrm>
            <a:off x="6583680" y="374904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BUDGET</a:t>
            </a:r>
            <a:endParaRPr lang="en-US" sz="900" dirty="0"/>
          </a:p>
        </p:txBody>
      </p:sp>
      <p:sp>
        <p:nvSpPr>
          <p:cNvPr id="30" name="Text 28"/>
          <p:cNvSpPr/>
          <p:nvPr/>
        </p:nvSpPr>
        <p:spPr>
          <a:xfrm>
            <a:off x="6583680" y="3977640"/>
            <a:ext cx="2377440" cy="36576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30%</a:t>
            </a:r>
            <a:endParaRPr lang="en-US" sz="1600" dirty="0"/>
          </a:p>
        </p:txBody>
      </p:sp>
      <p:sp>
        <p:nvSpPr>
          <p:cNvPr id="31" name="Text 29"/>
          <p:cNvSpPr/>
          <p:nvPr/>
        </p:nvSpPr>
        <p:spPr>
          <a:xfrm>
            <a:off x="6583680" y="4434840"/>
            <a:ext cx="2377440" cy="128016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$6.16 CPA, highest YouTube engagement, 1.8M students. AI-curious.</a:t>
            </a:r>
            <a:endParaRPr lang="en-US" sz="1100" dirty="0"/>
          </a:p>
        </p:txBody>
      </p:sp>
      <p:sp>
        <p:nvSpPr>
          <p:cNvPr id="32" name="Shape 30"/>
          <p:cNvSpPr/>
          <p:nvPr/>
        </p:nvSpPr>
        <p:spPr>
          <a:xfrm>
            <a:off x="9326880" y="1691640"/>
            <a:ext cx="2743200" cy="4114800"/>
          </a:xfrm>
          <a:prstGeom prst="rect">
            <a:avLst/>
          </a:prstGeom>
          <a:solidFill>
            <a:srgbClr val="FFFFFF"/>
          </a:solidFill>
          <a:ln w="12700">
            <a:solidFill>
              <a:srgbClr val="DADCE0"/>
            </a:solidFill>
            <a:prstDash val="solid"/>
          </a:ln>
        </p:spPr>
      </p:sp>
      <p:sp>
        <p:nvSpPr>
          <p:cNvPr id="33" name="Shape 31"/>
          <p:cNvSpPr/>
          <p:nvPr/>
        </p:nvSpPr>
        <p:spPr>
          <a:xfrm>
            <a:off x="9326880" y="1691640"/>
            <a:ext cx="2743200" cy="457200"/>
          </a:xfrm>
          <a:prstGeom prst="rect">
            <a:avLst/>
          </a:prstGeom>
          <a:solidFill>
            <a:srgbClr val="EA4335"/>
          </a:solidFill>
          <a:ln/>
        </p:spPr>
      </p:sp>
      <p:sp>
        <p:nvSpPr>
          <p:cNvPr id="34" name="Text 32"/>
          <p:cNvSpPr/>
          <p:nvPr/>
        </p:nvSpPr>
        <p:spPr>
          <a:xfrm>
            <a:off x="9509760" y="1755648"/>
            <a:ext cx="237744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DROP</a:t>
            </a:r>
            <a:endParaRPr lang="en-US" sz="1100" dirty="0"/>
          </a:p>
        </p:txBody>
      </p:sp>
      <p:sp>
        <p:nvSpPr>
          <p:cNvPr id="35" name="Text 33"/>
          <p:cNvSpPr/>
          <p:nvPr/>
        </p:nvSpPr>
        <p:spPr>
          <a:xfrm>
            <a:off x="9509760" y="2331720"/>
            <a:ext cx="2377440" cy="640080"/>
          </a:xfrm>
          <a:prstGeom prst="rect">
            <a:avLst/>
          </a:prstGeom>
          <a:noFill/>
          <a:ln/>
        </p:spPr>
        <p:txBody>
          <a:bodyPr wrap="square" lIns="0" tIns="0" rIns="0" bIns="0" rtlCol="0" anchor="ctr"/>
          <a:lstStyle/>
          <a:p>
            <a:pPr indent="0" marL="0">
              <a:buNone/>
            </a:pPr>
            <a:r>
              <a:rPr lang="en-US" sz="4000" b="1" dirty="0">
                <a:solidFill>
                  <a:srgbClr val="1F1F1F"/>
                </a:solidFill>
                <a:latin typeface="Georgia" pitchFamily="34" charset="0"/>
                <a:ea typeface="Georgia" pitchFamily="34" charset="-122"/>
                <a:cs typeface="Georgia" pitchFamily="34" charset="-120"/>
              </a:rPr>
              <a:t>DE</a:t>
            </a:r>
            <a:endParaRPr lang="en-US" sz="4000" dirty="0"/>
          </a:p>
        </p:txBody>
      </p:sp>
      <p:sp>
        <p:nvSpPr>
          <p:cNvPr id="36" name="Text 34"/>
          <p:cNvSpPr/>
          <p:nvPr/>
        </p:nvSpPr>
        <p:spPr>
          <a:xfrm>
            <a:off x="9509760" y="310896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ROLE</a:t>
            </a:r>
            <a:endParaRPr lang="en-US" sz="900" dirty="0"/>
          </a:p>
        </p:txBody>
      </p:sp>
      <p:sp>
        <p:nvSpPr>
          <p:cNvPr id="37" name="Text 35"/>
          <p:cNvSpPr/>
          <p:nvPr/>
        </p:nvSpPr>
        <p:spPr>
          <a:xfrm>
            <a:off x="9509760" y="3337560"/>
            <a:ext cx="2377440" cy="365760"/>
          </a:xfrm>
          <a:prstGeom prst="rect">
            <a:avLst/>
          </a:prstGeom>
          <a:noFill/>
          <a:ln/>
        </p:spPr>
        <p:txBody>
          <a:bodyPr wrap="square" lIns="0" tIns="0" rIns="0" bIns="0" rtlCol="0" anchor="ctr"/>
          <a:lstStyle/>
          <a:p>
            <a:pPr indent="0" marL="0">
              <a:buNone/>
            </a:pPr>
            <a:r>
              <a:rPr lang="en-US" sz="1600" b="1" dirty="0">
                <a:solidFill>
                  <a:srgbClr val="EA4335"/>
                </a:solidFill>
                <a:latin typeface="Calibri" pitchFamily="34" charset="0"/>
                <a:ea typeface="Calibri" pitchFamily="34" charset="-122"/>
                <a:cs typeface="Calibri" pitchFamily="34" charset="-120"/>
              </a:rPr>
              <a:t>-</a:t>
            </a:r>
            <a:endParaRPr lang="en-US" sz="1600" dirty="0"/>
          </a:p>
        </p:txBody>
      </p:sp>
      <p:sp>
        <p:nvSpPr>
          <p:cNvPr id="38" name="Text 36"/>
          <p:cNvSpPr/>
          <p:nvPr/>
        </p:nvSpPr>
        <p:spPr>
          <a:xfrm>
            <a:off x="9509760" y="3749040"/>
            <a:ext cx="23774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BUDGET</a:t>
            </a:r>
            <a:endParaRPr lang="en-US" sz="900" dirty="0"/>
          </a:p>
        </p:txBody>
      </p:sp>
      <p:sp>
        <p:nvSpPr>
          <p:cNvPr id="39" name="Text 37"/>
          <p:cNvSpPr/>
          <p:nvPr/>
        </p:nvSpPr>
        <p:spPr>
          <a:xfrm>
            <a:off x="9509760" y="3977640"/>
            <a:ext cx="2377440" cy="365760"/>
          </a:xfrm>
          <a:prstGeom prst="rect">
            <a:avLst/>
          </a:prstGeom>
          <a:noFill/>
          <a:ln/>
        </p:spPr>
        <p:txBody>
          <a:bodyPr wrap="square" lIns="0" tIns="0" rIns="0" bIns="0" rtlCol="0" anchor="ctr"/>
          <a:lstStyle/>
          <a:p>
            <a:pPr indent="0" marL="0">
              <a:buNone/>
            </a:pPr>
            <a:r>
              <a:rPr lang="en-US" sz="1600" b="1" dirty="0">
                <a:solidFill>
                  <a:srgbClr val="1F1F1F"/>
                </a:solidFill>
                <a:latin typeface="Calibri" pitchFamily="34" charset="0"/>
                <a:ea typeface="Calibri" pitchFamily="34" charset="-122"/>
                <a:cs typeface="Calibri" pitchFamily="34" charset="-120"/>
              </a:rPr>
              <a:t>-</a:t>
            </a:r>
            <a:endParaRPr lang="en-US" sz="1600" dirty="0"/>
          </a:p>
        </p:txBody>
      </p:sp>
      <p:sp>
        <p:nvSpPr>
          <p:cNvPr id="40" name="Text 38"/>
          <p:cNvSpPr/>
          <p:nvPr/>
        </p:nvSpPr>
        <p:spPr>
          <a:xfrm>
            <a:off x="9509760" y="4434840"/>
            <a:ext cx="2377440" cy="128016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$23.25 CPA · 0.05% CVR · privacy-cautious audience. Same cost as UK without the brand HQ value.</a:t>
            </a:r>
            <a:endParaRPr lang="en-US" sz="1100" dirty="0"/>
          </a:p>
        </p:txBody>
      </p:sp>
      <p:sp>
        <p:nvSpPr>
          <p:cNvPr id="41" name="Text 39"/>
          <p:cNvSpPr/>
          <p:nvPr/>
        </p:nvSpPr>
        <p:spPr>
          <a:xfrm>
            <a:off x="548640" y="5989320"/>
            <a:ext cx="10972800" cy="548640"/>
          </a:xfrm>
          <a:prstGeom prst="rect">
            <a:avLst/>
          </a:prstGeom>
          <a:noFill/>
          <a:ln/>
        </p:spPr>
        <p:txBody>
          <a:bodyPr wrap="square" lIns="0" tIns="0" rIns="0" bIns="0" rtlCol="0" anchor="ctr"/>
          <a:lstStyle/>
          <a:p>
            <a:pPr indent="0" marL="0">
              <a:buNone/>
            </a:pPr>
            <a:r>
              <a:rPr lang="en-US" sz="1200" b="1" i="1" dirty="0">
                <a:solidFill>
                  <a:srgbClr val="1F1F1F"/>
                </a:solidFill>
                <a:latin typeface="Calibri" pitchFamily="34" charset="0"/>
                <a:ea typeface="Calibri" pitchFamily="34" charset="-122"/>
                <a:cs typeface="Calibri" pitchFamily="34" charset="-120"/>
              </a:rPr>
              <a:t>Why drop DE? Same CPA as UK ($23), but without the brand-HQ value. The $1.5M we'd have spent there buys 4× more lifted users in EG.</a:t>
            </a:r>
            <a:endParaRPr lang="en-US" sz="1200" dirty="0"/>
          </a:p>
        </p:txBody>
      </p:sp>
      <p:sp>
        <p:nvSpPr>
          <p:cNvPr id="42" name="Text 40"/>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43" name="Text 41"/>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3 / 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RECOMMENDATION 2 OF 4 · AUDIENCE &amp; MEDIA</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Meet 18-24s where they already are: video, social, and search.</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Habits, not just channels. Built around the student day.</a:t>
            </a:r>
            <a:endParaRPr lang="en-US" sz="1200" dirty="0"/>
          </a:p>
        </p:txBody>
      </p:sp>
      <p:sp>
        <p:nvSpPr>
          <p:cNvPr id="5" name="Shape 3"/>
          <p:cNvSpPr/>
          <p:nvPr/>
        </p:nvSpPr>
        <p:spPr>
          <a:xfrm>
            <a:off x="548640" y="1691640"/>
            <a:ext cx="5029200" cy="4572000"/>
          </a:xfrm>
          <a:prstGeom prst="rect">
            <a:avLst/>
          </a:prstGeom>
          <a:solidFill>
            <a:srgbClr val="F8F9FA"/>
          </a:solidFill>
          <a:ln w="12700">
            <a:solidFill>
              <a:srgbClr val="DADCE0"/>
            </a:solidFill>
            <a:prstDash val="solid"/>
          </a:ln>
        </p:spPr>
      </p:sp>
      <p:sp>
        <p:nvSpPr>
          <p:cNvPr id="6" name="Text 4"/>
          <p:cNvSpPr/>
          <p:nvPr/>
        </p:nvSpPr>
        <p:spPr>
          <a:xfrm>
            <a:off x="777240" y="1874520"/>
            <a:ext cx="4572000" cy="274320"/>
          </a:xfrm>
          <a:prstGeom prst="rect">
            <a:avLst/>
          </a:prstGeom>
          <a:noFill/>
          <a:ln/>
        </p:spPr>
        <p:txBody>
          <a:bodyPr wrap="square" lIns="0" tIns="0" rIns="0" bIns="0" rtlCol="0" anchor="ctr"/>
          <a:lstStyle/>
          <a:p>
            <a:pPr indent="0" marL="0">
              <a:buNone/>
            </a:pPr>
            <a:r>
              <a:rPr lang="en-US" sz="1000" b="1" spc="800" kern="0" dirty="0">
                <a:solidFill>
                  <a:srgbClr val="1A73E8"/>
                </a:solidFill>
                <a:latin typeface="Calibri" pitchFamily="34" charset="0"/>
                <a:ea typeface="Calibri" pitchFamily="34" charset="-122"/>
                <a:cs typeface="Calibri" pitchFamily="34" charset="-120"/>
              </a:rPr>
              <a:t>THE STUDENT</a:t>
            </a:r>
            <a:endParaRPr lang="en-US" sz="1000" dirty="0"/>
          </a:p>
        </p:txBody>
      </p:sp>
      <p:sp>
        <p:nvSpPr>
          <p:cNvPr id="7" name="Text 5"/>
          <p:cNvSpPr/>
          <p:nvPr/>
        </p:nvSpPr>
        <p:spPr>
          <a:xfrm>
            <a:off x="777240" y="2148840"/>
            <a:ext cx="4572000" cy="548640"/>
          </a:xfrm>
          <a:prstGeom prst="rect">
            <a:avLst/>
          </a:prstGeom>
          <a:noFill/>
          <a:ln/>
        </p:spPr>
        <p:txBody>
          <a:bodyPr wrap="square" lIns="0" tIns="0" rIns="0" bIns="0" rtlCol="0" anchor="ctr"/>
          <a:lstStyle/>
          <a:p>
            <a:pPr indent="0" marL="0">
              <a:buNone/>
            </a:pPr>
            <a:r>
              <a:rPr lang="en-US" sz="2200" b="1" dirty="0">
                <a:solidFill>
                  <a:srgbClr val="1F1F1F"/>
                </a:solidFill>
                <a:latin typeface="Georgia" pitchFamily="34" charset="0"/>
                <a:ea typeface="Georgia" pitchFamily="34" charset="-122"/>
                <a:cs typeface="Georgia" pitchFamily="34" charset="-120"/>
              </a:rPr>
              <a:t>18-24, mobile-first, AI-fluent.</a:t>
            </a:r>
            <a:endParaRPr lang="en-US" sz="2200" dirty="0"/>
          </a:p>
        </p:txBody>
      </p:sp>
      <p:sp>
        <p:nvSpPr>
          <p:cNvPr id="8" name="Text 6"/>
          <p:cNvSpPr/>
          <p:nvPr/>
        </p:nvSpPr>
        <p:spPr>
          <a:xfrm>
            <a:off x="777240" y="2926080"/>
            <a:ext cx="1280160" cy="457200"/>
          </a:xfrm>
          <a:prstGeom prst="rect">
            <a:avLst/>
          </a:prstGeom>
          <a:noFill/>
          <a:ln/>
        </p:spPr>
        <p:txBody>
          <a:bodyPr wrap="square" lIns="0" tIns="0" rIns="0" bIns="0" rtlCol="0" anchor="ctr"/>
          <a:lstStyle/>
          <a:p>
            <a:pPr indent="0" marL="0">
              <a:buNone/>
            </a:pPr>
            <a:r>
              <a:rPr lang="en-US" sz="2200" b="1" dirty="0">
                <a:solidFill>
                  <a:srgbClr val="1A73E8"/>
                </a:solidFill>
                <a:latin typeface="Georgia" pitchFamily="34" charset="0"/>
                <a:ea typeface="Georgia" pitchFamily="34" charset="-122"/>
                <a:cs typeface="Georgia" pitchFamily="34" charset="-120"/>
              </a:rPr>
              <a:t>8.2M</a:t>
            </a:r>
            <a:endParaRPr lang="en-US" sz="2200" dirty="0"/>
          </a:p>
        </p:txBody>
      </p:sp>
      <p:sp>
        <p:nvSpPr>
          <p:cNvPr id="9" name="Text 7"/>
          <p:cNvSpPr/>
          <p:nvPr/>
        </p:nvSpPr>
        <p:spPr>
          <a:xfrm>
            <a:off x="2103120" y="3017520"/>
            <a:ext cx="3383280" cy="457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students across UK, EG, SA</a:t>
            </a:r>
            <a:endParaRPr lang="en-US" sz="1200" dirty="0"/>
          </a:p>
        </p:txBody>
      </p:sp>
      <p:sp>
        <p:nvSpPr>
          <p:cNvPr id="10" name="Text 8"/>
          <p:cNvSpPr/>
          <p:nvPr/>
        </p:nvSpPr>
        <p:spPr>
          <a:xfrm>
            <a:off x="777240" y="3703320"/>
            <a:ext cx="1280160" cy="457200"/>
          </a:xfrm>
          <a:prstGeom prst="rect">
            <a:avLst/>
          </a:prstGeom>
          <a:noFill/>
          <a:ln/>
        </p:spPr>
        <p:txBody>
          <a:bodyPr wrap="square" lIns="0" tIns="0" rIns="0" bIns="0" rtlCol="0" anchor="ctr"/>
          <a:lstStyle/>
          <a:p>
            <a:pPr indent="0" marL="0">
              <a:buNone/>
            </a:pPr>
            <a:r>
              <a:rPr lang="en-US" sz="2200" b="1" dirty="0">
                <a:solidFill>
                  <a:srgbClr val="1A73E8"/>
                </a:solidFill>
                <a:latin typeface="Georgia" pitchFamily="34" charset="0"/>
                <a:ea typeface="Georgia" pitchFamily="34" charset="-122"/>
                <a:cs typeface="Georgia" pitchFamily="34" charset="-120"/>
              </a:rPr>
              <a:t>~3 hrs</a:t>
            </a:r>
            <a:endParaRPr lang="en-US" sz="2200" dirty="0"/>
          </a:p>
        </p:txBody>
      </p:sp>
      <p:sp>
        <p:nvSpPr>
          <p:cNvPr id="11" name="Text 9"/>
          <p:cNvSpPr/>
          <p:nvPr/>
        </p:nvSpPr>
        <p:spPr>
          <a:xfrm>
            <a:off x="2103120" y="3794760"/>
            <a:ext cx="3383280" cy="457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spent on YouTube and TikTok daily</a:t>
            </a:r>
            <a:endParaRPr lang="en-US" sz="1200" dirty="0"/>
          </a:p>
        </p:txBody>
      </p:sp>
      <p:sp>
        <p:nvSpPr>
          <p:cNvPr id="12" name="Text 10"/>
          <p:cNvSpPr/>
          <p:nvPr/>
        </p:nvSpPr>
        <p:spPr>
          <a:xfrm>
            <a:off x="777240" y="4480560"/>
            <a:ext cx="1280160" cy="457200"/>
          </a:xfrm>
          <a:prstGeom prst="rect">
            <a:avLst/>
          </a:prstGeom>
          <a:noFill/>
          <a:ln/>
        </p:spPr>
        <p:txBody>
          <a:bodyPr wrap="square" lIns="0" tIns="0" rIns="0" bIns="0" rtlCol="0" anchor="ctr"/>
          <a:lstStyle/>
          <a:p>
            <a:pPr indent="0" marL="0">
              <a:buNone/>
            </a:pPr>
            <a:r>
              <a:rPr lang="en-US" sz="2200" b="1" dirty="0">
                <a:solidFill>
                  <a:srgbClr val="1A73E8"/>
                </a:solidFill>
                <a:latin typeface="Georgia" pitchFamily="34" charset="0"/>
                <a:ea typeface="Georgia" pitchFamily="34" charset="-122"/>
                <a:cs typeface="Georgia" pitchFamily="34" charset="-120"/>
              </a:rPr>
              <a:t>92%</a:t>
            </a:r>
            <a:endParaRPr lang="en-US" sz="2200" dirty="0"/>
          </a:p>
        </p:txBody>
      </p:sp>
      <p:sp>
        <p:nvSpPr>
          <p:cNvPr id="13" name="Text 11"/>
          <p:cNvSpPr/>
          <p:nvPr/>
        </p:nvSpPr>
        <p:spPr>
          <a:xfrm>
            <a:off x="2103120" y="4572000"/>
            <a:ext cx="3383280" cy="457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already use AI for study</a:t>
            </a:r>
            <a:endParaRPr lang="en-US" sz="1200" dirty="0"/>
          </a:p>
        </p:txBody>
      </p:sp>
      <p:sp>
        <p:nvSpPr>
          <p:cNvPr id="14" name="Text 12"/>
          <p:cNvSpPr/>
          <p:nvPr/>
        </p:nvSpPr>
        <p:spPr>
          <a:xfrm>
            <a:off x="777240" y="5257800"/>
            <a:ext cx="1280160" cy="457200"/>
          </a:xfrm>
          <a:prstGeom prst="rect">
            <a:avLst/>
          </a:prstGeom>
          <a:noFill/>
          <a:ln/>
        </p:spPr>
        <p:txBody>
          <a:bodyPr wrap="square" lIns="0" tIns="0" rIns="0" bIns="0" rtlCol="0" anchor="ctr"/>
          <a:lstStyle/>
          <a:p>
            <a:pPr indent="0" marL="0">
              <a:buNone/>
            </a:pPr>
            <a:r>
              <a:rPr lang="en-US" sz="2200" b="1" dirty="0">
                <a:solidFill>
                  <a:srgbClr val="1A73E8"/>
                </a:solidFill>
                <a:latin typeface="Georgia" pitchFamily="34" charset="0"/>
                <a:ea typeface="Georgia" pitchFamily="34" charset="-122"/>
                <a:cs typeface="Georgia" pitchFamily="34" charset="-120"/>
              </a:rPr>
              <a:t>46%</a:t>
            </a:r>
            <a:endParaRPr lang="en-US" sz="2200" dirty="0"/>
          </a:p>
        </p:txBody>
      </p:sp>
      <p:sp>
        <p:nvSpPr>
          <p:cNvPr id="15" name="Text 13"/>
          <p:cNvSpPr/>
          <p:nvPr/>
        </p:nvSpPr>
        <p:spPr>
          <a:xfrm>
            <a:off x="2103120" y="5349240"/>
            <a:ext cx="3383280" cy="45720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consideration gap vs 25-34s, fixable with good creative</a:t>
            </a:r>
            <a:endParaRPr lang="en-US" sz="1200" dirty="0"/>
          </a:p>
        </p:txBody>
      </p:sp>
      <p:sp>
        <p:nvSpPr>
          <p:cNvPr id="16" name="Text 14"/>
          <p:cNvSpPr/>
          <p:nvPr/>
        </p:nvSpPr>
        <p:spPr>
          <a:xfrm>
            <a:off x="5852160" y="1691640"/>
            <a:ext cx="5486400" cy="274320"/>
          </a:xfrm>
          <a:prstGeom prst="rect">
            <a:avLst/>
          </a:prstGeom>
          <a:noFill/>
          <a:ln/>
        </p:spPr>
        <p:txBody>
          <a:bodyPr wrap="square" lIns="0" tIns="0" rIns="0" bIns="0" rtlCol="0" anchor="ctr"/>
          <a:lstStyle/>
          <a:p>
            <a:pPr indent="0" marL="0">
              <a:buNone/>
            </a:pPr>
            <a:r>
              <a:rPr lang="en-US" sz="1000" b="1" spc="800" kern="0" dirty="0">
                <a:solidFill>
                  <a:srgbClr val="1A73E8"/>
                </a:solidFill>
                <a:latin typeface="Calibri" pitchFamily="34" charset="0"/>
                <a:ea typeface="Calibri" pitchFamily="34" charset="-122"/>
                <a:cs typeface="Calibri" pitchFamily="34" charset="-120"/>
              </a:rPr>
              <a:t>THE CHANNEL STACK</a:t>
            </a:r>
            <a:endParaRPr lang="en-US" sz="1000" dirty="0"/>
          </a:p>
        </p:txBody>
      </p:sp>
      <p:sp>
        <p:nvSpPr>
          <p:cNvPr id="17" name="Shape 15"/>
          <p:cNvSpPr/>
          <p:nvPr/>
        </p:nvSpPr>
        <p:spPr>
          <a:xfrm>
            <a:off x="5852160" y="2148840"/>
            <a:ext cx="5760720" cy="868680"/>
          </a:xfrm>
          <a:prstGeom prst="rect">
            <a:avLst/>
          </a:prstGeom>
          <a:solidFill>
            <a:srgbClr val="FFFFFF"/>
          </a:solidFill>
          <a:ln w="12700">
            <a:solidFill>
              <a:srgbClr val="DADCE0"/>
            </a:solidFill>
            <a:prstDash val="solid"/>
          </a:ln>
        </p:spPr>
      </p:sp>
      <p:sp>
        <p:nvSpPr>
          <p:cNvPr id="18" name="Text 16"/>
          <p:cNvSpPr/>
          <p:nvPr/>
        </p:nvSpPr>
        <p:spPr>
          <a:xfrm>
            <a:off x="5989320" y="2240280"/>
            <a:ext cx="1280160" cy="36576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YouTube</a:t>
            </a:r>
            <a:endParaRPr lang="en-US" sz="1600" dirty="0"/>
          </a:p>
        </p:txBody>
      </p:sp>
      <p:sp>
        <p:nvSpPr>
          <p:cNvPr id="19" name="Text 17"/>
          <p:cNvSpPr/>
          <p:nvPr/>
        </p:nvSpPr>
        <p:spPr>
          <a:xfrm>
            <a:off x="5989320" y="2606040"/>
            <a:ext cx="1463040" cy="274320"/>
          </a:xfrm>
          <a:prstGeom prst="rect">
            <a:avLst/>
          </a:prstGeom>
          <a:noFill/>
          <a:ln/>
        </p:spPr>
        <p:txBody>
          <a:bodyPr wrap="square" lIns="0" tIns="0" rIns="0" bIns="0" rtlCol="0" anchor="ctr"/>
          <a:lstStyle/>
          <a:p>
            <a:pPr indent="0" marL="0">
              <a:buNone/>
            </a:pPr>
            <a:r>
              <a:rPr lang="en-US" sz="1000" i="1" dirty="0">
                <a:solidFill>
                  <a:srgbClr val="EA4335"/>
                </a:solidFill>
                <a:latin typeface="Calibri" pitchFamily="34" charset="0"/>
                <a:ea typeface="Calibri" pitchFamily="34" charset="-122"/>
                <a:cs typeface="Calibri" pitchFamily="34" charset="-120"/>
              </a:rPr>
              <a:t>Build the brand</a:t>
            </a:r>
            <a:endParaRPr lang="en-US" sz="1000" dirty="0"/>
          </a:p>
        </p:txBody>
      </p:sp>
      <p:sp>
        <p:nvSpPr>
          <p:cNvPr id="20" name="Text 18"/>
          <p:cNvSpPr/>
          <p:nvPr/>
        </p:nvSpPr>
        <p:spPr>
          <a:xfrm>
            <a:off x="7406640" y="2286000"/>
            <a:ext cx="731520" cy="457200"/>
          </a:xfrm>
          <a:prstGeom prst="rect">
            <a:avLst/>
          </a:prstGeom>
          <a:noFill/>
          <a:ln/>
        </p:spPr>
        <p:txBody>
          <a:bodyPr wrap="square" lIns="0" tIns="0" rIns="0" bIns="0" rtlCol="0" anchor="ctr"/>
          <a:lstStyle/>
          <a:p>
            <a:pPr indent="0" marL="0">
              <a:buNone/>
            </a:pPr>
            <a:r>
              <a:rPr lang="en-US" sz="1800" b="1" dirty="0">
                <a:solidFill>
                  <a:srgbClr val="EA4335"/>
                </a:solidFill>
                <a:latin typeface="Georgia" pitchFamily="34" charset="0"/>
                <a:ea typeface="Georgia" pitchFamily="34" charset="-122"/>
                <a:cs typeface="Georgia" pitchFamily="34" charset="-120"/>
              </a:rPr>
              <a:t>40%</a:t>
            </a:r>
            <a:endParaRPr lang="en-US" sz="1800" dirty="0"/>
          </a:p>
        </p:txBody>
      </p:sp>
      <p:sp>
        <p:nvSpPr>
          <p:cNvPr id="21" name="Text 19"/>
          <p:cNvSpPr/>
          <p:nvPr/>
        </p:nvSpPr>
        <p:spPr>
          <a:xfrm>
            <a:off x="8229600" y="2258568"/>
            <a:ext cx="338328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TrueView for Reach + 6s bumpers. Life Hack hero creative. Skippable in-stream during study sessions.</a:t>
            </a:r>
            <a:endParaRPr lang="en-US" sz="1000" dirty="0"/>
          </a:p>
        </p:txBody>
      </p:sp>
      <p:sp>
        <p:nvSpPr>
          <p:cNvPr id="22" name="Shape 20"/>
          <p:cNvSpPr/>
          <p:nvPr/>
        </p:nvSpPr>
        <p:spPr>
          <a:xfrm>
            <a:off x="5852160" y="3108960"/>
            <a:ext cx="5760720" cy="868680"/>
          </a:xfrm>
          <a:prstGeom prst="rect">
            <a:avLst/>
          </a:prstGeom>
          <a:solidFill>
            <a:srgbClr val="FFFFFF"/>
          </a:solidFill>
          <a:ln w="12700">
            <a:solidFill>
              <a:srgbClr val="DADCE0"/>
            </a:solidFill>
            <a:prstDash val="solid"/>
          </a:ln>
        </p:spPr>
      </p:sp>
      <p:sp>
        <p:nvSpPr>
          <p:cNvPr id="23" name="Text 21"/>
          <p:cNvSpPr/>
          <p:nvPr/>
        </p:nvSpPr>
        <p:spPr>
          <a:xfrm>
            <a:off x="5989320" y="3200400"/>
            <a:ext cx="1280160" cy="36576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Social</a:t>
            </a:r>
            <a:endParaRPr lang="en-US" sz="1600" dirty="0"/>
          </a:p>
        </p:txBody>
      </p:sp>
      <p:sp>
        <p:nvSpPr>
          <p:cNvPr id="24" name="Text 22"/>
          <p:cNvSpPr/>
          <p:nvPr/>
        </p:nvSpPr>
        <p:spPr>
          <a:xfrm>
            <a:off x="5989320" y="3566160"/>
            <a:ext cx="1463040" cy="274320"/>
          </a:xfrm>
          <a:prstGeom prst="rect">
            <a:avLst/>
          </a:prstGeom>
          <a:noFill/>
          <a:ln/>
        </p:spPr>
        <p:txBody>
          <a:bodyPr wrap="square" lIns="0" tIns="0" rIns="0" bIns="0" rtlCol="0" anchor="ctr"/>
          <a:lstStyle/>
          <a:p>
            <a:pPr indent="0" marL="0">
              <a:buNone/>
            </a:pPr>
            <a:r>
              <a:rPr lang="en-US" sz="1000" i="1" dirty="0">
                <a:solidFill>
                  <a:srgbClr val="1A73E8"/>
                </a:solidFill>
                <a:latin typeface="Calibri" pitchFamily="34" charset="0"/>
                <a:ea typeface="Calibri" pitchFamily="34" charset="-122"/>
                <a:cs typeface="Calibri" pitchFamily="34" charset="-120"/>
              </a:rPr>
              <a:t>Drive consideration</a:t>
            </a:r>
            <a:endParaRPr lang="en-US" sz="1000" dirty="0"/>
          </a:p>
        </p:txBody>
      </p:sp>
      <p:sp>
        <p:nvSpPr>
          <p:cNvPr id="25" name="Text 23"/>
          <p:cNvSpPr/>
          <p:nvPr/>
        </p:nvSpPr>
        <p:spPr>
          <a:xfrm>
            <a:off x="7406640" y="3246120"/>
            <a:ext cx="731520" cy="457200"/>
          </a:xfrm>
          <a:prstGeom prst="rect">
            <a:avLst/>
          </a:prstGeom>
          <a:noFill/>
          <a:ln/>
        </p:spPr>
        <p:txBody>
          <a:bodyPr wrap="square" lIns="0" tIns="0" rIns="0" bIns="0" rtlCol="0" anchor="ctr"/>
          <a:lstStyle/>
          <a:p>
            <a:pPr indent="0" marL="0">
              <a:buNone/>
            </a:pPr>
            <a:r>
              <a:rPr lang="en-US" sz="1800" b="1" dirty="0">
                <a:solidFill>
                  <a:srgbClr val="1A73E8"/>
                </a:solidFill>
                <a:latin typeface="Georgia" pitchFamily="34" charset="0"/>
                <a:ea typeface="Georgia" pitchFamily="34" charset="-122"/>
                <a:cs typeface="Georgia" pitchFamily="34" charset="-120"/>
              </a:rPr>
              <a:t>30%</a:t>
            </a:r>
            <a:endParaRPr lang="en-US" sz="1800" dirty="0"/>
          </a:p>
        </p:txBody>
      </p:sp>
      <p:sp>
        <p:nvSpPr>
          <p:cNvPr id="26" name="Text 24"/>
          <p:cNvSpPr/>
          <p:nvPr/>
        </p:nvSpPr>
        <p:spPr>
          <a:xfrm>
            <a:off x="8229600" y="3218688"/>
            <a:ext cx="338328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Vertical video on TikTok, IG Reels, X. Native creator partnerships in each market. Reply ads in trending threads.</a:t>
            </a:r>
            <a:endParaRPr lang="en-US" sz="1000" dirty="0"/>
          </a:p>
        </p:txBody>
      </p:sp>
      <p:sp>
        <p:nvSpPr>
          <p:cNvPr id="27" name="Shape 25"/>
          <p:cNvSpPr/>
          <p:nvPr/>
        </p:nvSpPr>
        <p:spPr>
          <a:xfrm>
            <a:off x="5852160" y="4069080"/>
            <a:ext cx="5760720" cy="868680"/>
          </a:xfrm>
          <a:prstGeom prst="rect">
            <a:avLst/>
          </a:prstGeom>
          <a:solidFill>
            <a:srgbClr val="FFFFFF"/>
          </a:solidFill>
          <a:ln w="12700">
            <a:solidFill>
              <a:srgbClr val="DADCE0"/>
            </a:solidFill>
            <a:prstDash val="solid"/>
          </a:ln>
        </p:spPr>
      </p:sp>
      <p:sp>
        <p:nvSpPr>
          <p:cNvPr id="28" name="Text 26"/>
          <p:cNvSpPr/>
          <p:nvPr/>
        </p:nvSpPr>
        <p:spPr>
          <a:xfrm>
            <a:off x="5989320" y="4160520"/>
            <a:ext cx="1280160" cy="36576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Search</a:t>
            </a:r>
            <a:endParaRPr lang="en-US" sz="1600" dirty="0"/>
          </a:p>
        </p:txBody>
      </p:sp>
      <p:sp>
        <p:nvSpPr>
          <p:cNvPr id="29" name="Text 27"/>
          <p:cNvSpPr/>
          <p:nvPr/>
        </p:nvSpPr>
        <p:spPr>
          <a:xfrm>
            <a:off x="5989320" y="4526280"/>
            <a:ext cx="1463040" cy="274320"/>
          </a:xfrm>
          <a:prstGeom prst="rect">
            <a:avLst/>
          </a:prstGeom>
          <a:noFill/>
          <a:ln/>
        </p:spPr>
        <p:txBody>
          <a:bodyPr wrap="square" lIns="0" tIns="0" rIns="0" bIns="0" rtlCol="0" anchor="ctr"/>
          <a:lstStyle/>
          <a:p>
            <a:pPr indent="0" marL="0">
              <a:buNone/>
            </a:pPr>
            <a:r>
              <a:rPr lang="en-US" sz="1000" i="1" dirty="0">
                <a:solidFill>
                  <a:srgbClr val="188038"/>
                </a:solidFill>
                <a:latin typeface="Calibri" pitchFamily="34" charset="0"/>
                <a:ea typeface="Calibri" pitchFamily="34" charset="-122"/>
                <a:cs typeface="Calibri" pitchFamily="34" charset="-120"/>
              </a:rPr>
              <a:t>Convert demand</a:t>
            </a:r>
            <a:endParaRPr lang="en-US" sz="1000" dirty="0"/>
          </a:p>
        </p:txBody>
      </p:sp>
      <p:sp>
        <p:nvSpPr>
          <p:cNvPr id="30" name="Text 28"/>
          <p:cNvSpPr/>
          <p:nvPr/>
        </p:nvSpPr>
        <p:spPr>
          <a:xfrm>
            <a:off x="7406640" y="4206240"/>
            <a:ext cx="731520" cy="457200"/>
          </a:xfrm>
          <a:prstGeom prst="rect">
            <a:avLst/>
          </a:prstGeom>
          <a:noFill/>
          <a:ln/>
        </p:spPr>
        <p:txBody>
          <a:bodyPr wrap="square" lIns="0" tIns="0" rIns="0" bIns="0" rtlCol="0" anchor="ctr"/>
          <a:lstStyle/>
          <a:p>
            <a:pPr indent="0" marL="0">
              <a:buNone/>
            </a:pPr>
            <a:r>
              <a:rPr lang="en-US" sz="1800" b="1" dirty="0">
                <a:solidFill>
                  <a:srgbClr val="188038"/>
                </a:solidFill>
                <a:latin typeface="Georgia" pitchFamily="34" charset="0"/>
                <a:ea typeface="Georgia" pitchFamily="34" charset="-122"/>
                <a:cs typeface="Georgia" pitchFamily="34" charset="-120"/>
              </a:rPr>
              <a:t>30%</a:t>
            </a:r>
            <a:endParaRPr lang="en-US" sz="1800" dirty="0"/>
          </a:p>
        </p:txBody>
      </p:sp>
      <p:sp>
        <p:nvSpPr>
          <p:cNvPr id="31" name="Text 29"/>
          <p:cNvSpPr/>
          <p:nvPr/>
        </p:nvSpPr>
        <p:spPr>
          <a:xfrm>
            <a:off x="8229600" y="4178808"/>
            <a:ext cx="338328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Generic AI-tool keywords + branded defence. Always-on, daily budget caps. Capture last-mile sign-ups.</a:t>
            </a:r>
            <a:endParaRPr lang="en-US" sz="1000" dirty="0"/>
          </a:p>
        </p:txBody>
      </p:sp>
      <p:sp>
        <p:nvSpPr>
          <p:cNvPr id="32" name="Shape 30"/>
          <p:cNvSpPr/>
          <p:nvPr/>
        </p:nvSpPr>
        <p:spPr>
          <a:xfrm>
            <a:off x="5852160" y="5029200"/>
            <a:ext cx="5760720" cy="868680"/>
          </a:xfrm>
          <a:prstGeom prst="rect">
            <a:avLst/>
          </a:prstGeom>
          <a:solidFill>
            <a:srgbClr val="FFFFFF"/>
          </a:solidFill>
          <a:ln w="12700">
            <a:solidFill>
              <a:srgbClr val="DADCE0"/>
            </a:solidFill>
            <a:prstDash val="solid"/>
          </a:ln>
        </p:spPr>
      </p:sp>
      <p:sp>
        <p:nvSpPr>
          <p:cNvPr id="33" name="Text 31"/>
          <p:cNvSpPr/>
          <p:nvPr/>
        </p:nvSpPr>
        <p:spPr>
          <a:xfrm>
            <a:off x="5989320" y="5120640"/>
            <a:ext cx="1280160" cy="36576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Display</a:t>
            </a:r>
            <a:endParaRPr lang="en-US" sz="1600" dirty="0"/>
          </a:p>
        </p:txBody>
      </p:sp>
      <p:sp>
        <p:nvSpPr>
          <p:cNvPr id="34" name="Text 32"/>
          <p:cNvSpPr/>
          <p:nvPr/>
        </p:nvSpPr>
        <p:spPr>
          <a:xfrm>
            <a:off x="5989320" y="5486400"/>
            <a:ext cx="1463040" cy="274320"/>
          </a:xfrm>
          <a:prstGeom prst="rect">
            <a:avLst/>
          </a:prstGeom>
          <a:noFill/>
          <a:ln/>
        </p:spPr>
        <p:txBody>
          <a:bodyPr wrap="square" lIns="0" tIns="0" rIns="0" bIns="0" rtlCol="0" anchor="ctr"/>
          <a:lstStyle/>
          <a:p>
            <a:pPr indent="0" marL="0">
              <a:buNone/>
            </a:pPr>
            <a:r>
              <a:rPr lang="en-US" sz="1000" i="1" dirty="0">
                <a:solidFill>
                  <a:srgbClr val="9AA0A6"/>
                </a:solidFill>
                <a:latin typeface="Calibri" pitchFamily="34" charset="0"/>
                <a:ea typeface="Calibri" pitchFamily="34" charset="-122"/>
                <a:cs typeface="Calibri" pitchFamily="34" charset="-120"/>
              </a:rPr>
              <a:t>-</a:t>
            </a:r>
            <a:endParaRPr lang="en-US" sz="1000" dirty="0"/>
          </a:p>
        </p:txBody>
      </p:sp>
      <p:sp>
        <p:nvSpPr>
          <p:cNvPr id="35" name="Text 33"/>
          <p:cNvSpPr/>
          <p:nvPr/>
        </p:nvSpPr>
        <p:spPr>
          <a:xfrm>
            <a:off x="7406640" y="5166360"/>
            <a:ext cx="731520" cy="457200"/>
          </a:xfrm>
          <a:prstGeom prst="rect">
            <a:avLst/>
          </a:prstGeom>
          <a:noFill/>
          <a:ln/>
        </p:spPr>
        <p:txBody>
          <a:bodyPr wrap="square" lIns="0" tIns="0" rIns="0" bIns="0" rtlCol="0" anchor="ctr"/>
          <a:lstStyle/>
          <a:p>
            <a:pPr indent="0" marL="0">
              <a:buNone/>
            </a:pPr>
            <a:r>
              <a:rPr lang="en-US" sz="1800" b="1" dirty="0">
                <a:solidFill>
                  <a:srgbClr val="9AA0A6"/>
                </a:solidFill>
                <a:latin typeface="Georgia" pitchFamily="34" charset="0"/>
                <a:ea typeface="Georgia" pitchFamily="34" charset="-122"/>
                <a:cs typeface="Georgia" pitchFamily="34" charset="-120"/>
              </a:rPr>
              <a:t>0%</a:t>
            </a:r>
            <a:endParaRPr lang="en-US" sz="1800" dirty="0"/>
          </a:p>
        </p:txBody>
      </p:sp>
      <p:sp>
        <p:nvSpPr>
          <p:cNvPr id="36" name="Text 34"/>
          <p:cNvSpPr/>
          <p:nvPr/>
        </p:nvSpPr>
        <p:spPr>
          <a:xfrm>
            <a:off x="8229600" y="5138928"/>
            <a:ext cx="338328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Dropped. 16/16 historical brand-lift studies failed significance. $4 CPM but $57 CPA, 10× Search.  </a:t>
            </a:r>
            <a:endParaRPr lang="en-US" sz="1000" dirty="0"/>
          </a:p>
        </p:txBody>
      </p:sp>
      <p:sp>
        <p:nvSpPr>
          <p:cNvPr id="37" name="Text 35"/>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38" name="Text 36"/>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4 / 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RECOMMENDATION 3 OF 4 · BUDGET</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$10M, allocated by audience size × historic efficiency.</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Markets weighted by reachable students; channels by role and proven CPLU.</a:t>
            </a:r>
            <a:endParaRPr lang="en-US" sz="1200" dirty="0"/>
          </a:p>
        </p:txBody>
      </p:sp>
      <p:sp>
        <p:nvSpPr>
          <p:cNvPr id="5" name="Shape 3"/>
          <p:cNvSpPr/>
          <p:nvPr/>
        </p:nvSpPr>
        <p:spPr>
          <a:xfrm>
            <a:off x="548640" y="1691640"/>
            <a:ext cx="2743200" cy="914400"/>
          </a:xfrm>
          <a:prstGeom prst="rect">
            <a:avLst/>
          </a:prstGeom>
          <a:solidFill>
            <a:srgbClr val="F8F9FA"/>
          </a:solidFill>
          <a:ln/>
        </p:spPr>
      </p:sp>
      <p:sp>
        <p:nvSpPr>
          <p:cNvPr id="6" name="Text 4"/>
          <p:cNvSpPr/>
          <p:nvPr/>
        </p:nvSpPr>
        <p:spPr>
          <a:xfrm>
            <a:off x="685800" y="1737360"/>
            <a:ext cx="2468880" cy="548640"/>
          </a:xfrm>
          <a:prstGeom prst="rect">
            <a:avLst/>
          </a:prstGeom>
          <a:noFill/>
          <a:ln/>
        </p:spPr>
        <p:txBody>
          <a:bodyPr wrap="square" lIns="0" tIns="0" rIns="0" bIns="0" rtlCol="0" anchor="ctr"/>
          <a:lstStyle/>
          <a:p>
            <a:pPr indent="0" marL="0">
              <a:buNone/>
            </a:pPr>
            <a:r>
              <a:rPr lang="en-US" sz="2800" b="1" dirty="0">
                <a:solidFill>
                  <a:srgbClr val="1A73E8"/>
                </a:solidFill>
                <a:latin typeface="Georgia" pitchFamily="34" charset="0"/>
                <a:ea typeface="Georgia" pitchFamily="34" charset="-122"/>
                <a:cs typeface="Georgia" pitchFamily="34" charset="-120"/>
              </a:rPr>
              <a:t>$3.5M</a:t>
            </a:r>
            <a:endParaRPr lang="en-US" sz="2800" dirty="0"/>
          </a:p>
        </p:txBody>
      </p:sp>
      <p:sp>
        <p:nvSpPr>
          <p:cNvPr id="7" name="Text 5"/>
          <p:cNvSpPr/>
          <p:nvPr/>
        </p:nvSpPr>
        <p:spPr>
          <a:xfrm>
            <a:off x="685800" y="2240280"/>
            <a:ext cx="2468880" cy="36576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United Kingdom</a:t>
            </a:r>
            <a:endParaRPr lang="en-US" sz="1100" dirty="0"/>
          </a:p>
        </p:txBody>
      </p:sp>
      <p:sp>
        <p:nvSpPr>
          <p:cNvPr id="8" name="Shape 6"/>
          <p:cNvSpPr/>
          <p:nvPr/>
        </p:nvSpPr>
        <p:spPr>
          <a:xfrm>
            <a:off x="3474720" y="1691640"/>
            <a:ext cx="2743200" cy="914400"/>
          </a:xfrm>
          <a:prstGeom prst="rect">
            <a:avLst/>
          </a:prstGeom>
          <a:solidFill>
            <a:srgbClr val="F8F9FA"/>
          </a:solidFill>
          <a:ln/>
        </p:spPr>
      </p:sp>
      <p:sp>
        <p:nvSpPr>
          <p:cNvPr id="9" name="Text 7"/>
          <p:cNvSpPr/>
          <p:nvPr/>
        </p:nvSpPr>
        <p:spPr>
          <a:xfrm>
            <a:off x="3611880" y="1737360"/>
            <a:ext cx="2468880" cy="548640"/>
          </a:xfrm>
          <a:prstGeom prst="rect">
            <a:avLst/>
          </a:prstGeom>
          <a:noFill/>
          <a:ln/>
        </p:spPr>
        <p:txBody>
          <a:bodyPr wrap="square" lIns="0" tIns="0" rIns="0" bIns="0" rtlCol="0" anchor="ctr"/>
          <a:lstStyle/>
          <a:p>
            <a:pPr indent="0" marL="0">
              <a:buNone/>
            </a:pPr>
            <a:r>
              <a:rPr lang="en-US" sz="2800" b="1" dirty="0">
                <a:solidFill>
                  <a:srgbClr val="1A73E8"/>
                </a:solidFill>
                <a:latin typeface="Georgia" pitchFamily="34" charset="0"/>
                <a:ea typeface="Georgia" pitchFamily="34" charset="-122"/>
                <a:cs typeface="Georgia" pitchFamily="34" charset="-120"/>
              </a:rPr>
              <a:t>$3.5M</a:t>
            </a:r>
            <a:endParaRPr lang="en-US" sz="2800" dirty="0"/>
          </a:p>
        </p:txBody>
      </p:sp>
      <p:sp>
        <p:nvSpPr>
          <p:cNvPr id="10" name="Text 8"/>
          <p:cNvSpPr/>
          <p:nvPr/>
        </p:nvSpPr>
        <p:spPr>
          <a:xfrm>
            <a:off x="3611880" y="2240280"/>
            <a:ext cx="2468880" cy="36576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Egypt</a:t>
            </a:r>
            <a:endParaRPr lang="en-US" sz="1100" dirty="0"/>
          </a:p>
        </p:txBody>
      </p:sp>
      <p:sp>
        <p:nvSpPr>
          <p:cNvPr id="11" name="Shape 9"/>
          <p:cNvSpPr/>
          <p:nvPr/>
        </p:nvSpPr>
        <p:spPr>
          <a:xfrm>
            <a:off x="6400800" y="1691640"/>
            <a:ext cx="2743200" cy="914400"/>
          </a:xfrm>
          <a:prstGeom prst="rect">
            <a:avLst/>
          </a:prstGeom>
          <a:solidFill>
            <a:srgbClr val="F8F9FA"/>
          </a:solidFill>
          <a:ln/>
        </p:spPr>
      </p:sp>
      <p:sp>
        <p:nvSpPr>
          <p:cNvPr id="12" name="Text 10"/>
          <p:cNvSpPr/>
          <p:nvPr/>
        </p:nvSpPr>
        <p:spPr>
          <a:xfrm>
            <a:off x="6537960" y="1737360"/>
            <a:ext cx="2468880" cy="548640"/>
          </a:xfrm>
          <a:prstGeom prst="rect">
            <a:avLst/>
          </a:prstGeom>
          <a:noFill/>
          <a:ln/>
        </p:spPr>
        <p:txBody>
          <a:bodyPr wrap="square" lIns="0" tIns="0" rIns="0" bIns="0" rtlCol="0" anchor="ctr"/>
          <a:lstStyle/>
          <a:p>
            <a:pPr indent="0" marL="0">
              <a:buNone/>
            </a:pPr>
            <a:r>
              <a:rPr lang="en-US" sz="2800" b="1" dirty="0">
                <a:solidFill>
                  <a:srgbClr val="1A73E8"/>
                </a:solidFill>
                <a:latin typeface="Georgia" pitchFamily="34" charset="0"/>
                <a:ea typeface="Georgia" pitchFamily="34" charset="-122"/>
                <a:cs typeface="Georgia" pitchFamily="34" charset="-120"/>
              </a:rPr>
              <a:t>$3.0M</a:t>
            </a:r>
            <a:endParaRPr lang="en-US" sz="2800" dirty="0"/>
          </a:p>
        </p:txBody>
      </p:sp>
      <p:sp>
        <p:nvSpPr>
          <p:cNvPr id="13" name="Text 11"/>
          <p:cNvSpPr/>
          <p:nvPr/>
        </p:nvSpPr>
        <p:spPr>
          <a:xfrm>
            <a:off x="6537960" y="2240280"/>
            <a:ext cx="2468880" cy="36576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Saudi Arabia</a:t>
            </a:r>
            <a:endParaRPr lang="en-US" sz="1100" dirty="0"/>
          </a:p>
        </p:txBody>
      </p:sp>
      <p:sp>
        <p:nvSpPr>
          <p:cNvPr id="14" name="Shape 12"/>
          <p:cNvSpPr/>
          <p:nvPr/>
        </p:nvSpPr>
        <p:spPr>
          <a:xfrm>
            <a:off x="9326880" y="1691640"/>
            <a:ext cx="2743200" cy="914400"/>
          </a:xfrm>
          <a:prstGeom prst="rect">
            <a:avLst/>
          </a:prstGeom>
          <a:solidFill>
            <a:srgbClr val="F8F9FA"/>
          </a:solidFill>
          <a:ln/>
        </p:spPr>
      </p:sp>
      <p:sp>
        <p:nvSpPr>
          <p:cNvPr id="15" name="Text 13"/>
          <p:cNvSpPr/>
          <p:nvPr/>
        </p:nvSpPr>
        <p:spPr>
          <a:xfrm>
            <a:off x="9464040" y="1737360"/>
            <a:ext cx="2468880" cy="548640"/>
          </a:xfrm>
          <a:prstGeom prst="rect">
            <a:avLst/>
          </a:prstGeom>
          <a:noFill/>
          <a:ln/>
        </p:spPr>
        <p:txBody>
          <a:bodyPr wrap="square" lIns="0" tIns="0" rIns="0" bIns="0"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$10M</a:t>
            </a:r>
            <a:endParaRPr lang="en-US" sz="2800" dirty="0"/>
          </a:p>
        </p:txBody>
      </p:sp>
      <p:sp>
        <p:nvSpPr>
          <p:cNvPr id="16" name="Text 14"/>
          <p:cNvSpPr/>
          <p:nvPr/>
        </p:nvSpPr>
        <p:spPr>
          <a:xfrm>
            <a:off x="9464040" y="2240280"/>
            <a:ext cx="2468880" cy="36576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Total · 8 wks</a:t>
            </a:r>
            <a:endParaRPr lang="en-US" sz="1100" dirty="0"/>
          </a:p>
        </p:txBody>
      </p:sp>
      <p:sp>
        <p:nvSpPr>
          <p:cNvPr id="17" name="Text 15"/>
          <p:cNvSpPr/>
          <p:nvPr/>
        </p:nvSpPr>
        <p:spPr>
          <a:xfrm>
            <a:off x="548640" y="2834640"/>
            <a:ext cx="10972800" cy="365760"/>
          </a:xfrm>
          <a:prstGeom prst="rect">
            <a:avLst/>
          </a:prstGeom>
          <a:noFill/>
          <a:ln/>
        </p:spPr>
        <p:txBody>
          <a:bodyPr wrap="square" lIns="0" tIns="0" rIns="0" bIns="0" rtlCol="0" anchor="ctr"/>
          <a:lstStyle/>
          <a:p>
            <a:pPr indent="0" marL="0">
              <a:buNone/>
            </a:pPr>
            <a:r>
              <a:rPr lang="en-US" sz="1400" b="1" dirty="0">
                <a:solidFill>
                  <a:srgbClr val="1F1F1F"/>
                </a:solidFill>
                <a:latin typeface="Calibri" pitchFamily="34" charset="0"/>
                <a:ea typeface="Calibri" pitchFamily="34" charset="-122"/>
                <a:cs typeface="Calibri" pitchFamily="34" charset="-120"/>
              </a:rPr>
              <a:t>Market × Channel allocation</a:t>
            </a:r>
            <a:endParaRPr lang="en-US" sz="1400" dirty="0"/>
          </a:p>
        </p:txBody>
      </p:sp>
      <p:sp>
        <p:nvSpPr>
          <p:cNvPr id="18" name="Text 16"/>
          <p:cNvSpPr/>
          <p:nvPr/>
        </p:nvSpPr>
        <p:spPr>
          <a:xfrm>
            <a:off x="548640" y="3246120"/>
            <a:ext cx="173736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MARKET</a:t>
            </a:r>
            <a:endParaRPr lang="en-US" sz="900" dirty="0"/>
          </a:p>
        </p:txBody>
      </p:sp>
      <p:sp>
        <p:nvSpPr>
          <p:cNvPr id="19" name="Text 17"/>
          <p:cNvSpPr/>
          <p:nvPr/>
        </p:nvSpPr>
        <p:spPr>
          <a:xfrm>
            <a:off x="2377440" y="3246120"/>
            <a:ext cx="182880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YOUTUBE (40%)</a:t>
            </a:r>
            <a:endParaRPr lang="en-US" sz="900" dirty="0"/>
          </a:p>
        </p:txBody>
      </p:sp>
      <p:sp>
        <p:nvSpPr>
          <p:cNvPr id="20" name="Text 18"/>
          <p:cNvSpPr/>
          <p:nvPr/>
        </p:nvSpPr>
        <p:spPr>
          <a:xfrm>
            <a:off x="4297680" y="3246120"/>
            <a:ext cx="182880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SOCIAL (30%)</a:t>
            </a:r>
            <a:endParaRPr lang="en-US" sz="900" dirty="0"/>
          </a:p>
        </p:txBody>
      </p:sp>
      <p:sp>
        <p:nvSpPr>
          <p:cNvPr id="21" name="Text 19"/>
          <p:cNvSpPr/>
          <p:nvPr/>
        </p:nvSpPr>
        <p:spPr>
          <a:xfrm>
            <a:off x="6217920" y="3246120"/>
            <a:ext cx="182880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SEARCH (30%)</a:t>
            </a:r>
            <a:endParaRPr lang="en-US" sz="900" dirty="0"/>
          </a:p>
        </p:txBody>
      </p:sp>
      <p:sp>
        <p:nvSpPr>
          <p:cNvPr id="22" name="Text 20"/>
          <p:cNvSpPr/>
          <p:nvPr/>
        </p:nvSpPr>
        <p:spPr>
          <a:xfrm>
            <a:off x="8138160" y="3246120"/>
            <a:ext cx="137160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TOTAL</a:t>
            </a:r>
            <a:endParaRPr lang="en-US" sz="900" dirty="0"/>
          </a:p>
        </p:txBody>
      </p:sp>
      <p:sp>
        <p:nvSpPr>
          <p:cNvPr id="23" name="Text 21"/>
          <p:cNvSpPr/>
          <p:nvPr/>
        </p:nvSpPr>
        <p:spPr>
          <a:xfrm>
            <a:off x="9601200" y="3246120"/>
            <a:ext cx="2286000" cy="274320"/>
          </a:xfrm>
          <a:prstGeom prst="rect">
            <a:avLst/>
          </a:prstGeom>
          <a:noFill/>
          <a:ln/>
        </p:spPr>
        <p:txBody>
          <a:bodyPr wrap="square" lIns="0" tIns="0" rIns="0" bIns="0" rtlCol="0" anchor="ctr"/>
          <a:lstStyle/>
          <a:p>
            <a:pPr indent="0" marL="0">
              <a:buNone/>
            </a:pPr>
            <a:r>
              <a:rPr lang="en-US" sz="900" b="1" spc="400" kern="0" dirty="0">
                <a:solidFill>
                  <a:srgbClr val="5F6368"/>
                </a:solidFill>
                <a:latin typeface="Calibri" pitchFamily="34" charset="0"/>
                <a:ea typeface="Calibri" pitchFamily="34" charset="-122"/>
                <a:cs typeface="Calibri" pitchFamily="34" charset="-120"/>
              </a:rPr>
              <a:t>EXPECTED SIGN-UPS</a:t>
            </a:r>
            <a:endParaRPr lang="en-US" sz="900" dirty="0"/>
          </a:p>
        </p:txBody>
      </p:sp>
      <p:sp>
        <p:nvSpPr>
          <p:cNvPr id="24" name="Shape 22"/>
          <p:cNvSpPr/>
          <p:nvPr/>
        </p:nvSpPr>
        <p:spPr>
          <a:xfrm>
            <a:off x="548640" y="3520440"/>
            <a:ext cx="11247120" cy="0"/>
          </a:xfrm>
          <a:prstGeom prst="line">
            <a:avLst/>
          </a:prstGeom>
          <a:noFill/>
          <a:ln w="12700">
            <a:solidFill>
              <a:srgbClr val="1F1F1F"/>
            </a:solidFill>
            <a:prstDash val="solid"/>
          </a:ln>
        </p:spPr>
      </p:sp>
      <p:sp>
        <p:nvSpPr>
          <p:cNvPr id="25" name="Shape 23"/>
          <p:cNvSpPr/>
          <p:nvPr/>
        </p:nvSpPr>
        <p:spPr>
          <a:xfrm>
            <a:off x="457200" y="3611880"/>
            <a:ext cx="11430000" cy="457200"/>
          </a:xfrm>
          <a:prstGeom prst="rect">
            <a:avLst/>
          </a:prstGeom>
          <a:solidFill>
            <a:srgbClr val="F8F9FA"/>
          </a:solidFill>
          <a:ln/>
        </p:spPr>
      </p:sp>
      <p:sp>
        <p:nvSpPr>
          <p:cNvPr id="26" name="Text 24"/>
          <p:cNvSpPr/>
          <p:nvPr/>
        </p:nvSpPr>
        <p:spPr>
          <a:xfrm>
            <a:off x="548640" y="3657600"/>
            <a:ext cx="1737360" cy="365760"/>
          </a:xfrm>
          <a:prstGeom prst="rect">
            <a:avLst/>
          </a:prstGeom>
          <a:noFill/>
          <a:ln/>
        </p:spPr>
        <p:txBody>
          <a:bodyPr wrap="square" lIns="0" tIns="0" rIns="0" bIns="0" rtlCol="0" anchor="ctr"/>
          <a:lstStyle/>
          <a:p>
            <a:pPr indent="0" marL="0">
              <a:buNone/>
            </a:pPr>
            <a:r>
              <a:rPr lang="en-US" sz="1200" b="1" dirty="0">
                <a:solidFill>
                  <a:srgbClr val="1F1F1F"/>
                </a:solidFill>
                <a:latin typeface="Calibri" pitchFamily="34" charset="0"/>
                <a:ea typeface="Calibri" pitchFamily="34" charset="-122"/>
                <a:cs typeface="Calibri" pitchFamily="34" charset="-120"/>
              </a:rPr>
              <a:t>UK · 35%</a:t>
            </a:r>
            <a:endParaRPr lang="en-US" sz="1200" dirty="0"/>
          </a:p>
        </p:txBody>
      </p:sp>
      <p:sp>
        <p:nvSpPr>
          <p:cNvPr id="27" name="Text 25"/>
          <p:cNvSpPr/>
          <p:nvPr/>
        </p:nvSpPr>
        <p:spPr>
          <a:xfrm>
            <a:off x="2377440" y="365760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$1.40M</a:t>
            </a:r>
            <a:endParaRPr lang="en-US" sz="1200" dirty="0"/>
          </a:p>
        </p:txBody>
      </p:sp>
      <p:sp>
        <p:nvSpPr>
          <p:cNvPr id="28" name="Text 26"/>
          <p:cNvSpPr/>
          <p:nvPr/>
        </p:nvSpPr>
        <p:spPr>
          <a:xfrm>
            <a:off x="4297680" y="365760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$1.05M</a:t>
            </a:r>
            <a:endParaRPr lang="en-US" sz="1200" dirty="0"/>
          </a:p>
        </p:txBody>
      </p:sp>
      <p:sp>
        <p:nvSpPr>
          <p:cNvPr id="29" name="Text 27"/>
          <p:cNvSpPr/>
          <p:nvPr/>
        </p:nvSpPr>
        <p:spPr>
          <a:xfrm>
            <a:off x="6217920" y="365760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$1.05M</a:t>
            </a:r>
            <a:endParaRPr lang="en-US" sz="1200" dirty="0"/>
          </a:p>
        </p:txBody>
      </p:sp>
      <p:sp>
        <p:nvSpPr>
          <p:cNvPr id="30" name="Text 28"/>
          <p:cNvSpPr/>
          <p:nvPr/>
        </p:nvSpPr>
        <p:spPr>
          <a:xfrm>
            <a:off x="8138160" y="3657600"/>
            <a:ext cx="1371600" cy="365760"/>
          </a:xfrm>
          <a:prstGeom prst="rect">
            <a:avLst/>
          </a:prstGeom>
          <a:noFill/>
          <a:ln/>
        </p:spPr>
        <p:txBody>
          <a:bodyPr wrap="square" lIns="0" tIns="0" rIns="0" bIns="0" rtlCol="0" anchor="ctr"/>
          <a:lstStyle/>
          <a:p>
            <a:pPr indent="0" marL="0">
              <a:buNone/>
            </a:pPr>
            <a:r>
              <a:rPr lang="en-US" sz="1200" b="1" dirty="0">
                <a:solidFill>
                  <a:srgbClr val="1F1F1F"/>
                </a:solidFill>
                <a:latin typeface="Consolas" pitchFamily="34" charset="0"/>
                <a:ea typeface="Consolas" pitchFamily="34" charset="-122"/>
                <a:cs typeface="Consolas" pitchFamily="34" charset="-120"/>
              </a:rPr>
              <a:t>$3.50M</a:t>
            </a:r>
            <a:endParaRPr lang="en-US" sz="1200" dirty="0"/>
          </a:p>
        </p:txBody>
      </p:sp>
      <p:sp>
        <p:nvSpPr>
          <p:cNvPr id="31" name="Text 29"/>
          <p:cNvSpPr/>
          <p:nvPr/>
        </p:nvSpPr>
        <p:spPr>
          <a:xfrm>
            <a:off x="9601200" y="3657600"/>
            <a:ext cx="2286000" cy="36576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~145K</a:t>
            </a:r>
            <a:endParaRPr lang="en-US" sz="1200" dirty="0"/>
          </a:p>
        </p:txBody>
      </p:sp>
      <p:sp>
        <p:nvSpPr>
          <p:cNvPr id="32" name="Text 30"/>
          <p:cNvSpPr/>
          <p:nvPr/>
        </p:nvSpPr>
        <p:spPr>
          <a:xfrm>
            <a:off x="548640" y="4069080"/>
            <a:ext cx="1737360" cy="365760"/>
          </a:xfrm>
          <a:prstGeom prst="rect">
            <a:avLst/>
          </a:prstGeom>
          <a:noFill/>
          <a:ln/>
        </p:spPr>
        <p:txBody>
          <a:bodyPr wrap="square" lIns="0" tIns="0" rIns="0" bIns="0" rtlCol="0" anchor="ctr"/>
          <a:lstStyle/>
          <a:p>
            <a:pPr indent="0" marL="0">
              <a:buNone/>
            </a:pPr>
            <a:r>
              <a:rPr lang="en-US" sz="1200" b="1" dirty="0">
                <a:solidFill>
                  <a:srgbClr val="1F1F1F"/>
                </a:solidFill>
                <a:latin typeface="Calibri" pitchFamily="34" charset="0"/>
                <a:ea typeface="Calibri" pitchFamily="34" charset="-122"/>
                <a:cs typeface="Calibri" pitchFamily="34" charset="-120"/>
              </a:rPr>
              <a:t>EG · 35%</a:t>
            </a:r>
            <a:endParaRPr lang="en-US" sz="1200" dirty="0"/>
          </a:p>
        </p:txBody>
      </p:sp>
      <p:sp>
        <p:nvSpPr>
          <p:cNvPr id="33" name="Text 31"/>
          <p:cNvSpPr/>
          <p:nvPr/>
        </p:nvSpPr>
        <p:spPr>
          <a:xfrm>
            <a:off x="2377440" y="406908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$1.40M</a:t>
            </a:r>
            <a:endParaRPr lang="en-US" sz="1200" dirty="0"/>
          </a:p>
        </p:txBody>
      </p:sp>
      <p:sp>
        <p:nvSpPr>
          <p:cNvPr id="34" name="Text 32"/>
          <p:cNvSpPr/>
          <p:nvPr/>
        </p:nvSpPr>
        <p:spPr>
          <a:xfrm>
            <a:off x="4297680" y="406908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$1.05M</a:t>
            </a:r>
            <a:endParaRPr lang="en-US" sz="1200" dirty="0"/>
          </a:p>
        </p:txBody>
      </p:sp>
      <p:sp>
        <p:nvSpPr>
          <p:cNvPr id="35" name="Text 33"/>
          <p:cNvSpPr/>
          <p:nvPr/>
        </p:nvSpPr>
        <p:spPr>
          <a:xfrm>
            <a:off x="6217920" y="406908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$1.05M</a:t>
            </a:r>
            <a:endParaRPr lang="en-US" sz="1200" dirty="0"/>
          </a:p>
        </p:txBody>
      </p:sp>
      <p:sp>
        <p:nvSpPr>
          <p:cNvPr id="36" name="Text 34"/>
          <p:cNvSpPr/>
          <p:nvPr/>
        </p:nvSpPr>
        <p:spPr>
          <a:xfrm>
            <a:off x="8138160" y="4069080"/>
            <a:ext cx="1371600" cy="365760"/>
          </a:xfrm>
          <a:prstGeom prst="rect">
            <a:avLst/>
          </a:prstGeom>
          <a:noFill/>
          <a:ln/>
        </p:spPr>
        <p:txBody>
          <a:bodyPr wrap="square" lIns="0" tIns="0" rIns="0" bIns="0" rtlCol="0" anchor="ctr"/>
          <a:lstStyle/>
          <a:p>
            <a:pPr indent="0" marL="0">
              <a:buNone/>
            </a:pPr>
            <a:r>
              <a:rPr lang="en-US" sz="1200" b="1" dirty="0">
                <a:solidFill>
                  <a:srgbClr val="1F1F1F"/>
                </a:solidFill>
                <a:latin typeface="Consolas" pitchFamily="34" charset="0"/>
                <a:ea typeface="Consolas" pitchFamily="34" charset="-122"/>
                <a:cs typeface="Consolas" pitchFamily="34" charset="-120"/>
              </a:rPr>
              <a:t>$3.50M</a:t>
            </a:r>
            <a:endParaRPr lang="en-US" sz="1200" dirty="0"/>
          </a:p>
        </p:txBody>
      </p:sp>
      <p:sp>
        <p:nvSpPr>
          <p:cNvPr id="37" name="Text 35"/>
          <p:cNvSpPr/>
          <p:nvPr/>
        </p:nvSpPr>
        <p:spPr>
          <a:xfrm>
            <a:off x="9601200" y="4069080"/>
            <a:ext cx="2286000" cy="36576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~553K</a:t>
            </a:r>
            <a:endParaRPr lang="en-US" sz="1200" dirty="0"/>
          </a:p>
        </p:txBody>
      </p:sp>
      <p:sp>
        <p:nvSpPr>
          <p:cNvPr id="38" name="Shape 36"/>
          <p:cNvSpPr/>
          <p:nvPr/>
        </p:nvSpPr>
        <p:spPr>
          <a:xfrm>
            <a:off x="457200" y="4434840"/>
            <a:ext cx="11430000" cy="457200"/>
          </a:xfrm>
          <a:prstGeom prst="rect">
            <a:avLst/>
          </a:prstGeom>
          <a:solidFill>
            <a:srgbClr val="F8F9FA"/>
          </a:solidFill>
          <a:ln/>
        </p:spPr>
      </p:sp>
      <p:sp>
        <p:nvSpPr>
          <p:cNvPr id="39" name="Text 37"/>
          <p:cNvSpPr/>
          <p:nvPr/>
        </p:nvSpPr>
        <p:spPr>
          <a:xfrm>
            <a:off x="548640" y="4480560"/>
            <a:ext cx="1737360" cy="365760"/>
          </a:xfrm>
          <a:prstGeom prst="rect">
            <a:avLst/>
          </a:prstGeom>
          <a:noFill/>
          <a:ln/>
        </p:spPr>
        <p:txBody>
          <a:bodyPr wrap="square" lIns="0" tIns="0" rIns="0" bIns="0" rtlCol="0" anchor="ctr"/>
          <a:lstStyle/>
          <a:p>
            <a:pPr indent="0" marL="0">
              <a:buNone/>
            </a:pPr>
            <a:r>
              <a:rPr lang="en-US" sz="1200" b="1" dirty="0">
                <a:solidFill>
                  <a:srgbClr val="1F1F1F"/>
                </a:solidFill>
                <a:latin typeface="Calibri" pitchFamily="34" charset="0"/>
                <a:ea typeface="Calibri" pitchFamily="34" charset="-122"/>
                <a:cs typeface="Calibri" pitchFamily="34" charset="-120"/>
              </a:rPr>
              <a:t>SA · 30%</a:t>
            </a:r>
            <a:endParaRPr lang="en-US" sz="1200" dirty="0"/>
          </a:p>
        </p:txBody>
      </p:sp>
      <p:sp>
        <p:nvSpPr>
          <p:cNvPr id="40" name="Text 38"/>
          <p:cNvSpPr/>
          <p:nvPr/>
        </p:nvSpPr>
        <p:spPr>
          <a:xfrm>
            <a:off x="2377440" y="448056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$1.20M</a:t>
            </a:r>
            <a:endParaRPr lang="en-US" sz="1200" dirty="0"/>
          </a:p>
        </p:txBody>
      </p:sp>
      <p:sp>
        <p:nvSpPr>
          <p:cNvPr id="41" name="Text 39"/>
          <p:cNvSpPr/>
          <p:nvPr/>
        </p:nvSpPr>
        <p:spPr>
          <a:xfrm>
            <a:off x="4297680" y="448056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$0.90M</a:t>
            </a:r>
            <a:endParaRPr lang="en-US" sz="1200" dirty="0"/>
          </a:p>
        </p:txBody>
      </p:sp>
      <p:sp>
        <p:nvSpPr>
          <p:cNvPr id="42" name="Text 40"/>
          <p:cNvSpPr/>
          <p:nvPr/>
        </p:nvSpPr>
        <p:spPr>
          <a:xfrm>
            <a:off x="6217920" y="4480560"/>
            <a:ext cx="1828800" cy="365760"/>
          </a:xfrm>
          <a:prstGeom prst="rect">
            <a:avLst/>
          </a:prstGeom>
          <a:noFill/>
          <a:ln/>
        </p:spPr>
        <p:txBody>
          <a:bodyPr wrap="square" lIns="0" tIns="0" rIns="0" bIns="0" rtlCol="0" anchor="ctr"/>
          <a:lstStyle/>
          <a:p>
            <a:pPr indent="0" marL="0">
              <a:buNone/>
            </a:pPr>
            <a:r>
              <a:rPr lang="en-US" sz="1200" dirty="0">
                <a:solidFill>
                  <a:srgbClr val="1F1F1F"/>
                </a:solidFill>
                <a:latin typeface="Consolas" pitchFamily="34" charset="0"/>
                <a:ea typeface="Consolas" pitchFamily="34" charset="-122"/>
                <a:cs typeface="Consolas" pitchFamily="34" charset="-120"/>
              </a:rPr>
              <a:t>$0.90M</a:t>
            </a:r>
            <a:endParaRPr lang="en-US" sz="1200" dirty="0"/>
          </a:p>
        </p:txBody>
      </p:sp>
      <p:sp>
        <p:nvSpPr>
          <p:cNvPr id="43" name="Text 41"/>
          <p:cNvSpPr/>
          <p:nvPr/>
        </p:nvSpPr>
        <p:spPr>
          <a:xfrm>
            <a:off x="8138160" y="4480560"/>
            <a:ext cx="1371600" cy="365760"/>
          </a:xfrm>
          <a:prstGeom prst="rect">
            <a:avLst/>
          </a:prstGeom>
          <a:noFill/>
          <a:ln/>
        </p:spPr>
        <p:txBody>
          <a:bodyPr wrap="square" lIns="0" tIns="0" rIns="0" bIns="0" rtlCol="0" anchor="ctr"/>
          <a:lstStyle/>
          <a:p>
            <a:pPr indent="0" marL="0">
              <a:buNone/>
            </a:pPr>
            <a:r>
              <a:rPr lang="en-US" sz="1200" b="1" dirty="0">
                <a:solidFill>
                  <a:srgbClr val="1F1F1F"/>
                </a:solidFill>
                <a:latin typeface="Consolas" pitchFamily="34" charset="0"/>
                <a:ea typeface="Consolas" pitchFamily="34" charset="-122"/>
                <a:cs typeface="Consolas" pitchFamily="34" charset="-120"/>
              </a:rPr>
              <a:t>$3.00M</a:t>
            </a:r>
            <a:endParaRPr lang="en-US" sz="1200" dirty="0"/>
          </a:p>
        </p:txBody>
      </p:sp>
      <p:sp>
        <p:nvSpPr>
          <p:cNvPr id="44" name="Text 42"/>
          <p:cNvSpPr/>
          <p:nvPr/>
        </p:nvSpPr>
        <p:spPr>
          <a:xfrm>
            <a:off x="9601200" y="4480560"/>
            <a:ext cx="2286000" cy="365760"/>
          </a:xfrm>
          <a:prstGeom prst="rect">
            <a:avLst/>
          </a:prstGeom>
          <a:noFill/>
          <a:ln/>
        </p:spPr>
        <p:txBody>
          <a:bodyPr wrap="square" lIns="0" tIns="0" rIns="0" bIns="0" rtlCol="0" anchor="ctr"/>
          <a:lstStyle/>
          <a:p>
            <a:pPr indent="0" marL="0">
              <a:buNone/>
            </a:pPr>
            <a:r>
              <a:rPr lang="en-US" sz="1200" dirty="0">
                <a:solidFill>
                  <a:srgbClr val="1F1F1F"/>
                </a:solidFill>
                <a:latin typeface="Calibri" pitchFamily="34" charset="0"/>
                <a:ea typeface="Calibri" pitchFamily="34" charset="-122"/>
                <a:cs typeface="Calibri" pitchFamily="34" charset="-120"/>
              </a:rPr>
              <a:t>~487K</a:t>
            </a:r>
            <a:endParaRPr lang="en-US" sz="1200" dirty="0"/>
          </a:p>
        </p:txBody>
      </p:sp>
      <p:sp>
        <p:nvSpPr>
          <p:cNvPr id="45" name="Shape 43"/>
          <p:cNvSpPr/>
          <p:nvPr/>
        </p:nvSpPr>
        <p:spPr>
          <a:xfrm>
            <a:off x="457200" y="4846320"/>
            <a:ext cx="11430000" cy="457200"/>
          </a:xfrm>
          <a:prstGeom prst="rect">
            <a:avLst/>
          </a:prstGeom>
          <a:solidFill>
            <a:srgbClr val="E8F0FE"/>
          </a:solidFill>
          <a:ln/>
        </p:spPr>
      </p:sp>
      <p:sp>
        <p:nvSpPr>
          <p:cNvPr id="46" name="Text 44"/>
          <p:cNvSpPr/>
          <p:nvPr/>
        </p:nvSpPr>
        <p:spPr>
          <a:xfrm>
            <a:off x="548640" y="4892040"/>
            <a:ext cx="1737360" cy="365760"/>
          </a:xfrm>
          <a:prstGeom prst="rect">
            <a:avLst/>
          </a:prstGeom>
          <a:noFill/>
          <a:ln/>
        </p:spPr>
        <p:txBody>
          <a:bodyPr wrap="square" lIns="0" tIns="0" rIns="0" bIns="0" rtlCol="0" anchor="ctr"/>
          <a:lstStyle/>
          <a:p>
            <a:pPr indent="0" marL="0">
              <a:buNone/>
            </a:pPr>
            <a:r>
              <a:rPr lang="en-US" sz="1200" b="1" dirty="0">
                <a:solidFill>
                  <a:srgbClr val="1A73E8"/>
                </a:solidFill>
                <a:latin typeface="Calibri" pitchFamily="34" charset="0"/>
                <a:ea typeface="Calibri" pitchFamily="34" charset="-122"/>
                <a:cs typeface="Calibri" pitchFamily="34" charset="-120"/>
              </a:rPr>
              <a:t>TOTAL</a:t>
            </a:r>
            <a:endParaRPr lang="en-US" sz="1200" dirty="0"/>
          </a:p>
        </p:txBody>
      </p:sp>
      <p:sp>
        <p:nvSpPr>
          <p:cNvPr id="47" name="Text 45"/>
          <p:cNvSpPr/>
          <p:nvPr/>
        </p:nvSpPr>
        <p:spPr>
          <a:xfrm>
            <a:off x="2377440" y="4892040"/>
            <a:ext cx="1828800" cy="365760"/>
          </a:xfrm>
          <a:prstGeom prst="rect">
            <a:avLst/>
          </a:prstGeom>
          <a:noFill/>
          <a:ln/>
        </p:spPr>
        <p:txBody>
          <a:bodyPr wrap="square" lIns="0" tIns="0" rIns="0" bIns="0" rtlCol="0" anchor="ctr"/>
          <a:lstStyle/>
          <a:p>
            <a:pPr indent="0" marL="0">
              <a:buNone/>
            </a:pPr>
            <a:r>
              <a:rPr lang="en-US" sz="1200" b="1" dirty="0">
                <a:solidFill>
                  <a:srgbClr val="1A73E8"/>
                </a:solidFill>
                <a:latin typeface="Consolas" pitchFamily="34" charset="0"/>
                <a:ea typeface="Consolas" pitchFamily="34" charset="-122"/>
                <a:cs typeface="Consolas" pitchFamily="34" charset="-120"/>
              </a:rPr>
              <a:t>$4.00M</a:t>
            </a:r>
            <a:endParaRPr lang="en-US" sz="1200" dirty="0"/>
          </a:p>
        </p:txBody>
      </p:sp>
      <p:sp>
        <p:nvSpPr>
          <p:cNvPr id="48" name="Text 46"/>
          <p:cNvSpPr/>
          <p:nvPr/>
        </p:nvSpPr>
        <p:spPr>
          <a:xfrm>
            <a:off x="4297680" y="4892040"/>
            <a:ext cx="1828800" cy="365760"/>
          </a:xfrm>
          <a:prstGeom prst="rect">
            <a:avLst/>
          </a:prstGeom>
          <a:noFill/>
          <a:ln/>
        </p:spPr>
        <p:txBody>
          <a:bodyPr wrap="square" lIns="0" tIns="0" rIns="0" bIns="0" rtlCol="0" anchor="ctr"/>
          <a:lstStyle/>
          <a:p>
            <a:pPr indent="0" marL="0">
              <a:buNone/>
            </a:pPr>
            <a:r>
              <a:rPr lang="en-US" sz="1200" b="1" dirty="0">
                <a:solidFill>
                  <a:srgbClr val="1A73E8"/>
                </a:solidFill>
                <a:latin typeface="Consolas" pitchFamily="34" charset="0"/>
                <a:ea typeface="Consolas" pitchFamily="34" charset="-122"/>
                <a:cs typeface="Consolas" pitchFamily="34" charset="-120"/>
              </a:rPr>
              <a:t>$3.00M</a:t>
            </a:r>
            <a:endParaRPr lang="en-US" sz="1200" dirty="0"/>
          </a:p>
        </p:txBody>
      </p:sp>
      <p:sp>
        <p:nvSpPr>
          <p:cNvPr id="49" name="Text 47"/>
          <p:cNvSpPr/>
          <p:nvPr/>
        </p:nvSpPr>
        <p:spPr>
          <a:xfrm>
            <a:off x="6217920" y="4892040"/>
            <a:ext cx="1828800" cy="365760"/>
          </a:xfrm>
          <a:prstGeom prst="rect">
            <a:avLst/>
          </a:prstGeom>
          <a:noFill/>
          <a:ln/>
        </p:spPr>
        <p:txBody>
          <a:bodyPr wrap="square" lIns="0" tIns="0" rIns="0" bIns="0" rtlCol="0" anchor="ctr"/>
          <a:lstStyle/>
          <a:p>
            <a:pPr indent="0" marL="0">
              <a:buNone/>
            </a:pPr>
            <a:r>
              <a:rPr lang="en-US" sz="1200" b="1" dirty="0">
                <a:solidFill>
                  <a:srgbClr val="1A73E8"/>
                </a:solidFill>
                <a:latin typeface="Consolas" pitchFamily="34" charset="0"/>
                <a:ea typeface="Consolas" pitchFamily="34" charset="-122"/>
                <a:cs typeface="Consolas" pitchFamily="34" charset="-120"/>
              </a:rPr>
              <a:t>$3.00M</a:t>
            </a:r>
            <a:endParaRPr lang="en-US" sz="1200" dirty="0"/>
          </a:p>
        </p:txBody>
      </p:sp>
      <p:sp>
        <p:nvSpPr>
          <p:cNvPr id="50" name="Text 48"/>
          <p:cNvSpPr/>
          <p:nvPr/>
        </p:nvSpPr>
        <p:spPr>
          <a:xfrm>
            <a:off x="8138160" y="4892040"/>
            <a:ext cx="1371600" cy="365760"/>
          </a:xfrm>
          <a:prstGeom prst="rect">
            <a:avLst/>
          </a:prstGeom>
          <a:noFill/>
          <a:ln/>
        </p:spPr>
        <p:txBody>
          <a:bodyPr wrap="square" lIns="0" tIns="0" rIns="0" bIns="0" rtlCol="0" anchor="ctr"/>
          <a:lstStyle/>
          <a:p>
            <a:pPr indent="0" marL="0">
              <a:buNone/>
            </a:pPr>
            <a:r>
              <a:rPr lang="en-US" sz="1200" b="1" dirty="0">
                <a:solidFill>
                  <a:srgbClr val="1A73E8"/>
                </a:solidFill>
                <a:latin typeface="Consolas" pitchFamily="34" charset="0"/>
                <a:ea typeface="Consolas" pitchFamily="34" charset="-122"/>
                <a:cs typeface="Consolas" pitchFamily="34" charset="-120"/>
              </a:rPr>
              <a:t>$10.0M</a:t>
            </a:r>
            <a:endParaRPr lang="en-US" sz="1200" dirty="0"/>
          </a:p>
        </p:txBody>
      </p:sp>
      <p:sp>
        <p:nvSpPr>
          <p:cNvPr id="51" name="Text 49"/>
          <p:cNvSpPr/>
          <p:nvPr/>
        </p:nvSpPr>
        <p:spPr>
          <a:xfrm>
            <a:off x="9601200" y="4892040"/>
            <a:ext cx="2286000" cy="365760"/>
          </a:xfrm>
          <a:prstGeom prst="rect">
            <a:avLst/>
          </a:prstGeom>
          <a:noFill/>
          <a:ln/>
        </p:spPr>
        <p:txBody>
          <a:bodyPr wrap="square" lIns="0" tIns="0" rIns="0" bIns="0" rtlCol="0" anchor="ctr"/>
          <a:lstStyle/>
          <a:p>
            <a:pPr indent="0" marL="0">
              <a:buNone/>
            </a:pPr>
            <a:r>
              <a:rPr lang="en-US" sz="1200" b="1" dirty="0">
                <a:solidFill>
                  <a:srgbClr val="1A73E8"/>
                </a:solidFill>
                <a:latin typeface="Calibri" pitchFamily="34" charset="0"/>
                <a:ea typeface="Calibri" pitchFamily="34" charset="-122"/>
                <a:cs typeface="Calibri" pitchFamily="34" charset="-120"/>
              </a:rPr>
              <a:t>~1.18M sign-ups</a:t>
            </a:r>
            <a:endParaRPr lang="en-US" sz="1200" dirty="0"/>
          </a:p>
        </p:txBody>
      </p:sp>
      <p:sp>
        <p:nvSpPr>
          <p:cNvPr id="52" name="Shape 50"/>
          <p:cNvSpPr/>
          <p:nvPr/>
        </p:nvSpPr>
        <p:spPr>
          <a:xfrm>
            <a:off x="548640" y="5669280"/>
            <a:ext cx="10972800" cy="777240"/>
          </a:xfrm>
          <a:prstGeom prst="rect">
            <a:avLst/>
          </a:prstGeom>
          <a:solidFill>
            <a:srgbClr val="FFFFFF"/>
          </a:solidFill>
          <a:ln w="12700">
            <a:solidFill>
              <a:srgbClr val="1A73E8"/>
            </a:solidFill>
            <a:prstDash val="solid"/>
          </a:ln>
        </p:spPr>
      </p:sp>
      <p:sp>
        <p:nvSpPr>
          <p:cNvPr id="53" name="Text 51"/>
          <p:cNvSpPr/>
          <p:nvPr/>
        </p:nvSpPr>
        <p:spPr>
          <a:xfrm>
            <a:off x="777240" y="5779008"/>
            <a:ext cx="1371600" cy="228600"/>
          </a:xfrm>
          <a:prstGeom prst="rect">
            <a:avLst/>
          </a:prstGeom>
          <a:noFill/>
          <a:ln/>
        </p:spPr>
        <p:txBody>
          <a:bodyPr wrap="square" lIns="0" tIns="0" rIns="0" bIns="0" rtlCol="0" anchor="ctr"/>
          <a:lstStyle/>
          <a:p>
            <a:pPr indent="0" marL="0">
              <a:buNone/>
            </a:pPr>
            <a:r>
              <a:rPr lang="en-US" sz="900" b="1" spc="600" kern="0" dirty="0">
                <a:solidFill>
                  <a:srgbClr val="1A73E8"/>
                </a:solidFill>
                <a:latin typeface="Calibri" pitchFamily="34" charset="0"/>
                <a:ea typeface="Calibri" pitchFamily="34" charset="-122"/>
                <a:cs typeface="Calibri" pitchFamily="34" charset="-120"/>
              </a:rPr>
              <a:t>LOGIC</a:t>
            </a:r>
            <a:endParaRPr lang="en-US" sz="900" dirty="0"/>
          </a:p>
        </p:txBody>
      </p:sp>
      <p:sp>
        <p:nvSpPr>
          <p:cNvPr id="54" name="Text 52"/>
          <p:cNvSpPr/>
          <p:nvPr/>
        </p:nvSpPr>
        <p:spPr>
          <a:xfrm>
            <a:off x="777240" y="5989320"/>
            <a:ext cx="10698480" cy="41148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Markets weighted on student population × strategic value. Channel split mirrors role: YouTube builds, Social converts, Search captures. Forecast uses historic CPA per market with mix-adjusted blends ($24 UK / $6.33 EG / $6.16 SA).</a:t>
            </a:r>
            <a:endParaRPr lang="en-US" sz="1100" dirty="0"/>
          </a:p>
        </p:txBody>
      </p:sp>
      <p:sp>
        <p:nvSpPr>
          <p:cNvPr id="55" name="Text 53"/>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56" name="Text 54"/>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5 / 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RECOMMENDATION 4 OF 4 · CREATIVE</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Lead with Life Hack. Localise, don't replace.</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One hero creative wins every market and every channel in testing.</a:t>
            </a:r>
            <a:endParaRPr lang="en-US" sz="1200" dirty="0"/>
          </a:p>
        </p:txBody>
      </p:sp>
      <p:sp>
        <p:nvSpPr>
          <p:cNvPr id="5" name="Shape 3"/>
          <p:cNvSpPr/>
          <p:nvPr/>
        </p:nvSpPr>
        <p:spPr>
          <a:xfrm>
            <a:off x="548640" y="1691640"/>
            <a:ext cx="4572000" cy="4572000"/>
          </a:xfrm>
          <a:prstGeom prst="rect">
            <a:avLst/>
          </a:prstGeom>
          <a:solidFill>
            <a:srgbClr val="1F1F1F"/>
          </a:solidFill>
          <a:ln/>
        </p:spPr>
      </p:sp>
      <p:sp>
        <p:nvSpPr>
          <p:cNvPr id="6" name="Text 4"/>
          <p:cNvSpPr/>
          <p:nvPr/>
        </p:nvSpPr>
        <p:spPr>
          <a:xfrm>
            <a:off x="777240" y="1874520"/>
            <a:ext cx="4114800" cy="274320"/>
          </a:xfrm>
          <a:prstGeom prst="rect">
            <a:avLst/>
          </a:prstGeom>
          <a:noFill/>
          <a:ln/>
        </p:spPr>
        <p:txBody>
          <a:bodyPr wrap="square" lIns="0" tIns="0" rIns="0" bIns="0" rtlCol="0" anchor="ctr"/>
          <a:lstStyle/>
          <a:p>
            <a:pPr indent="0" marL="0">
              <a:buNone/>
            </a:pPr>
            <a:r>
              <a:rPr lang="en-US" sz="1000" b="1" spc="800" kern="0" dirty="0">
                <a:solidFill>
                  <a:srgbClr val="F9AB00"/>
                </a:solidFill>
                <a:latin typeface="Calibri" pitchFamily="34" charset="0"/>
                <a:ea typeface="Calibri" pitchFamily="34" charset="-122"/>
                <a:cs typeface="Calibri" pitchFamily="34" charset="-120"/>
              </a:rPr>
              <a:t>HERO CREATIVE</a:t>
            </a:r>
            <a:endParaRPr lang="en-US" sz="1000" dirty="0"/>
          </a:p>
        </p:txBody>
      </p:sp>
      <p:sp>
        <p:nvSpPr>
          <p:cNvPr id="7" name="Text 5"/>
          <p:cNvSpPr/>
          <p:nvPr/>
        </p:nvSpPr>
        <p:spPr>
          <a:xfrm>
            <a:off x="777240" y="2148840"/>
            <a:ext cx="4114800" cy="54864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Life Hack.</a:t>
            </a:r>
            <a:endParaRPr lang="en-US" sz="3200" dirty="0"/>
          </a:p>
        </p:txBody>
      </p:sp>
      <p:sp>
        <p:nvSpPr>
          <p:cNvPr id="8" name="Text 6"/>
          <p:cNvSpPr/>
          <p:nvPr/>
        </p:nvSpPr>
        <p:spPr>
          <a:xfrm>
            <a:off x="777240" y="2788920"/>
            <a:ext cx="4114800" cy="1097280"/>
          </a:xfrm>
          <a:prstGeom prst="rect">
            <a:avLst/>
          </a:prstGeom>
          <a:noFill/>
          <a:ln/>
        </p:spPr>
        <p:txBody>
          <a:bodyPr wrap="square" lIns="0" tIns="0" rIns="0" bIns="0" rtlCol="0" anchor="ctr"/>
          <a:lstStyle/>
          <a:p>
            <a:pPr indent="0" marL="0">
              <a:buNone/>
            </a:pPr>
            <a:r>
              <a:rPr lang="en-US" sz="5600" b="1" dirty="0">
                <a:solidFill>
                  <a:srgbClr val="F9AB00"/>
                </a:solidFill>
                <a:latin typeface="Georgia" pitchFamily="34" charset="0"/>
                <a:ea typeface="Georgia" pitchFamily="34" charset="-122"/>
                <a:cs typeface="Georgia" pitchFamily="34" charset="-120"/>
              </a:rPr>
              <a:t>+10.1pp</a:t>
            </a:r>
            <a:endParaRPr lang="en-US" sz="5600" dirty="0"/>
          </a:p>
        </p:txBody>
      </p:sp>
      <p:sp>
        <p:nvSpPr>
          <p:cNvPr id="9" name="Text 7"/>
          <p:cNvSpPr/>
          <p:nvPr/>
        </p:nvSpPr>
        <p:spPr>
          <a:xfrm>
            <a:off x="777240" y="4023360"/>
            <a:ext cx="4114800" cy="640080"/>
          </a:xfrm>
          <a:prstGeom prst="rect">
            <a:avLst/>
          </a:prstGeom>
          <a:noFill/>
          <a:ln/>
        </p:spPr>
        <p:txBody>
          <a:bodyPr wrap="square" lIns="0" tIns="0" rIns="0" bIns="0" rtlCol="0" anchor="ctr"/>
          <a:lstStyle/>
          <a:p>
            <a:pPr indent="0" marL="0">
              <a:buNone/>
            </a:pPr>
            <a:r>
              <a:rPr lang="en-US" sz="1200" i="1" dirty="0">
                <a:solidFill>
                  <a:srgbClr val="C0C5CC"/>
                </a:solidFill>
                <a:latin typeface="Calibri" pitchFamily="34" charset="0"/>
                <a:ea typeface="Calibri" pitchFamily="34" charset="-122"/>
                <a:cs typeface="Calibri" pitchFamily="34" charset="-120"/>
              </a:rPr>
              <a:t>absolute consideration lift.</a:t>
            </a:r>
            <a:endParaRPr lang="en-US" sz="1200" dirty="0"/>
          </a:p>
          <a:p>
            <a:pPr indent="0" marL="0">
              <a:buNone/>
            </a:pPr>
            <a:r>
              <a:rPr lang="en-US" sz="1200" i="1" dirty="0">
                <a:solidFill>
                  <a:srgbClr val="C0C5CC"/>
                </a:solidFill>
                <a:latin typeface="Calibri" pitchFamily="34" charset="0"/>
                <a:ea typeface="Calibri" pitchFamily="34" charset="-122"/>
                <a:cs typeface="Calibri" pitchFamily="34" charset="-120"/>
              </a:rPr>
              <a:t>Wins every market, every channel.</a:t>
            </a:r>
            <a:endParaRPr lang="en-US" sz="1200" dirty="0"/>
          </a:p>
        </p:txBody>
      </p:sp>
      <p:sp>
        <p:nvSpPr>
          <p:cNvPr id="10" name="Shape 8"/>
          <p:cNvSpPr/>
          <p:nvPr/>
        </p:nvSpPr>
        <p:spPr>
          <a:xfrm>
            <a:off x="777240" y="4754880"/>
            <a:ext cx="4114800" cy="0"/>
          </a:xfrm>
          <a:prstGeom prst="line">
            <a:avLst/>
          </a:prstGeom>
          <a:noFill/>
          <a:ln w="12700">
            <a:solidFill>
              <a:srgbClr val="404040"/>
            </a:solidFill>
            <a:prstDash val="solid"/>
          </a:ln>
        </p:spPr>
      </p:sp>
      <p:sp>
        <p:nvSpPr>
          <p:cNvPr id="11" name="Text 9"/>
          <p:cNvSpPr/>
          <p:nvPr/>
        </p:nvSpPr>
        <p:spPr>
          <a:xfrm>
            <a:off x="777240" y="4892040"/>
            <a:ext cx="4114800" cy="274320"/>
          </a:xfrm>
          <a:prstGeom prst="rect">
            <a:avLst/>
          </a:prstGeom>
          <a:noFill/>
          <a:ln/>
        </p:spPr>
        <p:txBody>
          <a:bodyPr wrap="square" lIns="0" tIns="0" rIns="0" bIns="0" rtlCol="0" anchor="ctr"/>
          <a:lstStyle/>
          <a:p>
            <a:pPr indent="0" marL="0">
              <a:buNone/>
            </a:pPr>
            <a:r>
              <a:rPr lang="en-US" sz="900" b="1" spc="600" kern="0" dirty="0">
                <a:solidFill>
                  <a:srgbClr val="F9AB00"/>
                </a:solidFill>
                <a:latin typeface="Calibri" pitchFamily="34" charset="0"/>
                <a:ea typeface="Calibri" pitchFamily="34" charset="-122"/>
                <a:cs typeface="Calibri" pitchFamily="34" charset="-120"/>
              </a:rPr>
              <a:t>THE PITCH</a:t>
            </a:r>
            <a:endParaRPr lang="en-US" sz="900" dirty="0"/>
          </a:p>
        </p:txBody>
      </p:sp>
      <p:sp>
        <p:nvSpPr>
          <p:cNvPr id="12" name="Text 10"/>
          <p:cNvSpPr/>
          <p:nvPr/>
        </p:nvSpPr>
        <p:spPr>
          <a:xfrm>
            <a:off x="777240" y="5120640"/>
            <a:ext cx="4114800" cy="109728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Real students, real shortcuts. Each spot opens with an everyday struggle (last-minute essay, debug, lab report) and ends with Gemini delivering in seconds.</a:t>
            </a:r>
            <a:endParaRPr lang="en-US" sz="1100" dirty="0"/>
          </a:p>
        </p:txBody>
      </p:sp>
      <p:sp>
        <p:nvSpPr>
          <p:cNvPr id="13" name="Text 11"/>
          <p:cNvSpPr/>
          <p:nvPr/>
        </p:nvSpPr>
        <p:spPr>
          <a:xfrm>
            <a:off x="5394960" y="1691640"/>
            <a:ext cx="6400800" cy="274320"/>
          </a:xfrm>
          <a:prstGeom prst="rect">
            <a:avLst/>
          </a:prstGeom>
          <a:noFill/>
          <a:ln/>
        </p:spPr>
        <p:txBody>
          <a:bodyPr wrap="square" lIns="0" tIns="0" rIns="0" bIns="0" rtlCol="0" anchor="ctr"/>
          <a:lstStyle/>
          <a:p>
            <a:pPr indent="0" marL="0">
              <a:buNone/>
            </a:pPr>
            <a:r>
              <a:rPr lang="en-US" sz="1000" b="1" spc="800" kern="0" dirty="0">
                <a:solidFill>
                  <a:srgbClr val="1A73E8"/>
                </a:solidFill>
                <a:latin typeface="Calibri" pitchFamily="34" charset="0"/>
                <a:ea typeface="Calibri" pitchFamily="34" charset="-122"/>
                <a:cs typeface="Calibri" pitchFamily="34" charset="-120"/>
              </a:rPr>
              <a:t>CREATIVE STACK</a:t>
            </a:r>
            <a:endParaRPr lang="en-US" sz="1000" dirty="0"/>
          </a:p>
        </p:txBody>
      </p:sp>
      <p:sp>
        <p:nvSpPr>
          <p:cNvPr id="14" name="Text 12"/>
          <p:cNvSpPr/>
          <p:nvPr/>
        </p:nvSpPr>
        <p:spPr>
          <a:xfrm>
            <a:off x="5394960" y="1965960"/>
            <a:ext cx="6400800" cy="27432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Hero + 2 supporting concepts + market localisation.</a:t>
            </a:r>
            <a:endParaRPr lang="en-US" sz="1200" dirty="0"/>
          </a:p>
        </p:txBody>
      </p:sp>
      <p:sp>
        <p:nvSpPr>
          <p:cNvPr id="15" name="Shape 13"/>
          <p:cNvSpPr/>
          <p:nvPr/>
        </p:nvSpPr>
        <p:spPr>
          <a:xfrm>
            <a:off x="5394960" y="2331720"/>
            <a:ext cx="6400800" cy="868680"/>
          </a:xfrm>
          <a:prstGeom prst="rect">
            <a:avLst/>
          </a:prstGeom>
          <a:solidFill>
            <a:srgbClr val="FFFFFF"/>
          </a:solidFill>
          <a:ln w="12700">
            <a:solidFill>
              <a:srgbClr val="DADCE0"/>
            </a:solidFill>
            <a:prstDash val="solid"/>
          </a:ln>
        </p:spPr>
      </p:sp>
      <p:sp>
        <p:nvSpPr>
          <p:cNvPr id="16" name="Shape 14"/>
          <p:cNvSpPr/>
          <p:nvPr/>
        </p:nvSpPr>
        <p:spPr>
          <a:xfrm>
            <a:off x="5394960" y="2331720"/>
            <a:ext cx="91440" cy="868680"/>
          </a:xfrm>
          <a:prstGeom prst="rect">
            <a:avLst/>
          </a:prstGeom>
          <a:solidFill>
            <a:srgbClr val="1A73E8"/>
          </a:solidFill>
          <a:ln/>
        </p:spPr>
      </p:sp>
      <p:sp>
        <p:nvSpPr>
          <p:cNvPr id="17" name="Text 15"/>
          <p:cNvSpPr/>
          <p:nvPr/>
        </p:nvSpPr>
        <p:spPr>
          <a:xfrm>
            <a:off x="5577840" y="2404872"/>
            <a:ext cx="1828800" cy="274320"/>
          </a:xfrm>
          <a:prstGeom prst="rect">
            <a:avLst/>
          </a:prstGeom>
          <a:noFill/>
          <a:ln/>
        </p:spPr>
        <p:txBody>
          <a:bodyPr wrap="square" lIns="0" tIns="0" rIns="0" bIns="0" rtlCol="0" anchor="ctr"/>
          <a:lstStyle/>
          <a:p>
            <a:pPr indent="0" marL="0">
              <a:buNone/>
            </a:pPr>
            <a:r>
              <a:rPr lang="en-US" sz="900" b="1" spc="600" kern="0" dirty="0">
                <a:solidFill>
                  <a:srgbClr val="1A73E8"/>
                </a:solidFill>
                <a:latin typeface="Calibri" pitchFamily="34" charset="0"/>
                <a:ea typeface="Calibri" pitchFamily="34" charset="-122"/>
                <a:cs typeface="Calibri" pitchFamily="34" charset="-120"/>
              </a:rPr>
              <a:t>HERO · 70%</a:t>
            </a:r>
            <a:endParaRPr lang="en-US" sz="900" dirty="0"/>
          </a:p>
        </p:txBody>
      </p:sp>
      <p:sp>
        <p:nvSpPr>
          <p:cNvPr id="18" name="Text 16"/>
          <p:cNvSpPr/>
          <p:nvPr/>
        </p:nvSpPr>
        <p:spPr>
          <a:xfrm>
            <a:off x="5577840" y="2651760"/>
            <a:ext cx="2286000" cy="45720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Life Hack</a:t>
            </a:r>
            <a:endParaRPr lang="en-US" sz="1600" dirty="0"/>
          </a:p>
        </p:txBody>
      </p:sp>
      <p:sp>
        <p:nvSpPr>
          <p:cNvPr id="19" name="Text 17"/>
          <p:cNvSpPr/>
          <p:nvPr/>
        </p:nvSpPr>
        <p:spPr>
          <a:xfrm>
            <a:off x="7863840" y="2560320"/>
            <a:ext cx="1371600" cy="457200"/>
          </a:xfrm>
          <a:prstGeom prst="rect">
            <a:avLst/>
          </a:prstGeom>
          <a:noFill/>
          <a:ln/>
        </p:spPr>
        <p:txBody>
          <a:bodyPr wrap="square" lIns="0" tIns="0" rIns="0" bIns="0" rtlCol="0" anchor="ctr"/>
          <a:lstStyle/>
          <a:p>
            <a:pPr indent="0" marL="0">
              <a:buNone/>
            </a:pPr>
            <a:r>
              <a:rPr lang="en-US" sz="1600" b="1" dirty="0">
                <a:solidFill>
                  <a:srgbClr val="1A73E8"/>
                </a:solidFill>
                <a:latin typeface="Consolas" pitchFamily="34" charset="0"/>
                <a:ea typeface="Consolas" pitchFamily="34" charset="-122"/>
                <a:cs typeface="Consolas" pitchFamily="34" charset="-120"/>
              </a:rPr>
              <a:t>+10.1pp</a:t>
            </a:r>
            <a:endParaRPr lang="en-US" sz="1600" dirty="0"/>
          </a:p>
        </p:txBody>
      </p:sp>
      <p:sp>
        <p:nvSpPr>
          <p:cNvPr id="20" name="Text 18"/>
          <p:cNvSpPr/>
          <p:nvPr/>
        </p:nvSpPr>
        <p:spPr>
          <a:xfrm>
            <a:off x="9144000" y="2441448"/>
            <a:ext cx="260604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Lead asset, all channels, all markets. 6s bumpers + 30s long form.</a:t>
            </a:r>
            <a:endParaRPr lang="en-US" sz="1000" dirty="0"/>
          </a:p>
        </p:txBody>
      </p:sp>
      <p:sp>
        <p:nvSpPr>
          <p:cNvPr id="21" name="Shape 19"/>
          <p:cNvSpPr/>
          <p:nvPr/>
        </p:nvSpPr>
        <p:spPr>
          <a:xfrm>
            <a:off x="5394960" y="3282696"/>
            <a:ext cx="6400800" cy="868680"/>
          </a:xfrm>
          <a:prstGeom prst="rect">
            <a:avLst/>
          </a:prstGeom>
          <a:solidFill>
            <a:srgbClr val="FFFFFF"/>
          </a:solidFill>
          <a:ln w="12700">
            <a:solidFill>
              <a:srgbClr val="DADCE0"/>
            </a:solidFill>
            <a:prstDash val="solid"/>
          </a:ln>
        </p:spPr>
      </p:sp>
      <p:sp>
        <p:nvSpPr>
          <p:cNvPr id="22" name="Text 20"/>
          <p:cNvSpPr/>
          <p:nvPr/>
        </p:nvSpPr>
        <p:spPr>
          <a:xfrm>
            <a:off x="5577840" y="3355848"/>
            <a:ext cx="182880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SUPPORT · 20%</a:t>
            </a:r>
            <a:endParaRPr lang="en-US" sz="900" dirty="0"/>
          </a:p>
        </p:txBody>
      </p:sp>
      <p:sp>
        <p:nvSpPr>
          <p:cNvPr id="23" name="Text 21"/>
          <p:cNvSpPr/>
          <p:nvPr/>
        </p:nvSpPr>
        <p:spPr>
          <a:xfrm>
            <a:off x="5577840" y="3602736"/>
            <a:ext cx="2286000" cy="45720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Coding Help</a:t>
            </a:r>
            <a:endParaRPr lang="en-US" sz="1600" dirty="0"/>
          </a:p>
        </p:txBody>
      </p:sp>
      <p:sp>
        <p:nvSpPr>
          <p:cNvPr id="24" name="Text 22"/>
          <p:cNvSpPr/>
          <p:nvPr/>
        </p:nvSpPr>
        <p:spPr>
          <a:xfrm>
            <a:off x="7863840" y="3511296"/>
            <a:ext cx="1371600" cy="457200"/>
          </a:xfrm>
          <a:prstGeom prst="rect">
            <a:avLst/>
          </a:prstGeom>
          <a:noFill/>
          <a:ln/>
        </p:spPr>
        <p:txBody>
          <a:bodyPr wrap="square" lIns="0" tIns="0" rIns="0" bIns="0" rtlCol="0" anchor="ctr"/>
          <a:lstStyle/>
          <a:p>
            <a:pPr indent="0" marL="0">
              <a:buNone/>
            </a:pPr>
            <a:r>
              <a:rPr lang="en-US" sz="1600" b="1" dirty="0">
                <a:solidFill>
                  <a:srgbClr val="5F6368"/>
                </a:solidFill>
                <a:latin typeface="Consolas" pitchFamily="34" charset="0"/>
                <a:ea typeface="Consolas" pitchFamily="34" charset="-122"/>
                <a:cs typeface="Consolas" pitchFamily="34" charset="-120"/>
              </a:rPr>
              <a:t>+3.0pp</a:t>
            </a:r>
            <a:endParaRPr lang="en-US" sz="1600" dirty="0"/>
          </a:p>
        </p:txBody>
      </p:sp>
      <p:sp>
        <p:nvSpPr>
          <p:cNvPr id="25" name="Text 23"/>
          <p:cNvSpPr/>
          <p:nvPr/>
        </p:nvSpPr>
        <p:spPr>
          <a:xfrm>
            <a:off x="9144000" y="3392424"/>
            <a:ext cx="260604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STEM students. UK/SA over-index. Concentrated on YouTube + Search.</a:t>
            </a:r>
            <a:endParaRPr lang="en-US" sz="1000" dirty="0"/>
          </a:p>
        </p:txBody>
      </p:sp>
      <p:sp>
        <p:nvSpPr>
          <p:cNvPr id="26" name="Shape 24"/>
          <p:cNvSpPr/>
          <p:nvPr/>
        </p:nvSpPr>
        <p:spPr>
          <a:xfrm>
            <a:off x="5394960" y="4233672"/>
            <a:ext cx="6400800" cy="868680"/>
          </a:xfrm>
          <a:prstGeom prst="rect">
            <a:avLst/>
          </a:prstGeom>
          <a:solidFill>
            <a:srgbClr val="FFFFFF"/>
          </a:solidFill>
          <a:ln w="12700">
            <a:solidFill>
              <a:srgbClr val="DADCE0"/>
            </a:solidFill>
            <a:prstDash val="solid"/>
          </a:ln>
        </p:spPr>
      </p:sp>
      <p:sp>
        <p:nvSpPr>
          <p:cNvPr id="27" name="Text 25"/>
          <p:cNvSpPr/>
          <p:nvPr/>
        </p:nvSpPr>
        <p:spPr>
          <a:xfrm>
            <a:off x="5577840" y="4306824"/>
            <a:ext cx="182880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SUPPORT · 10%</a:t>
            </a:r>
            <a:endParaRPr lang="en-US" sz="900" dirty="0"/>
          </a:p>
        </p:txBody>
      </p:sp>
      <p:sp>
        <p:nvSpPr>
          <p:cNvPr id="28" name="Text 26"/>
          <p:cNvSpPr/>
          <p:nvPr/>
        </p:nvSpPr>
        <p:spPr>
          <a:xfrm>
            <a:off x="5577840" y="4553712"/>
            <a:ext cx="2286000" cy="45720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Study With Me</a:t>
            </a:r>
            <a:endParaRPr lang="en-US" sz="1600" dirty="0"/>
          </a:p>
        </p:txBody>
      </p:sp>
      <p:sp>
        <p:nvSpPr>
          <p:cNvPr id="29" name="Text 27"/>
          <p:cNvSpPr/>
          <p:nvPr/>
        </p:nvSpPr>
        <p:spPr>
          <a:xfrm>
            <a:off x="7863840" y="4462272"/>
            <a:ext cx="1371600" cy="457200"/>
          </a:xfrm>
          <a:prstGeom prst="rect">
            <a:avLst/>
          </a:prstGeom>
          <a:noFill/>
          <a:ln/>
        </p:spPr>
        <p:txBody>
          <a:bodyPr wrap="square" lIns="0" tIns="0" rIns="0" bIns="0" rtlCol="0" anchor="ctr"/>
          <a:lstStyle/>
          <a:p>
            <a:pPr indent="0" marL="0">
              <a:buNone/>
            </a:pPr>
            <a:r>
              <a:rPr lang="en-US" sz="1600" b="1" dirty="0">
                <a:solidFill>
                  <a:srgbClr val="5F6368"/>
                </a:solidFill>
                <a:latin typeface="Consolas" pitchFamily="34" charset="0"/>
                <a:ea typeface="Consolas" pitchFamily="34" charset="-122"/>
                <a:cs typeface="Consolas" pitchFamily="34" charset="-120"/>
              </a:rPr>
              <a:t>+2.7pp</a:t>
            </a:r>
            <a:endParaRPr lang="en-US" sz="1600" dirty="0"/>
          </a:p>
        </p:txBody>
      </p:sp>
      <p:sp>
        <p:nvSpPr>
          <p:cNvPr id="30" name="Text 28"/>
          <p:cNvSpPr/>
          <p:nvPr/>
        </p:nvSpPr>
        <p:spPr>
          <a:xfrm>
            <a:off x="9144000" y="4343400"/>
            <a:ext cx="260604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Strongest in EG (+3.1pp), exam-period push, social-led.</a:t>
            </a:r>
            <a:endParaRPr lang="en-US" sz="1000" dirty="0"/>
          </a:p>
        </p:txBody>
      </p:sp>
      <p:sp>
        <p:nvSpPr>
          <p:cNvPr id="31" name="Shape 29"/>
          <p:cNvSpPr/>
          <p:nvPr/>
        </p:nvSpPr>
        <p:spPr>
          <a:xfrm>
            <a:off x="5394960" y="5184648"/>
            <a:ext cx="6400800" cy="868680"/>
          </a:xfrm>
          <a:prstGeom prst="rect">
            <a:avLst/>
          </a:prstGeom>
          <a:solidFill>
            <a:srgbClr val="FFFFFF"/>
          </a:solidFill>
          <a:ln w="12700">
            <a:solidFill>
              <a:srgbClr val="DADCE0"/>
            </a:solidFill>
            <a:prstDash val="solid"/>
          </a:ln>
        </p:spPr>
      </p:sp>
      <p:sp>
        <p:nvSpPr>
          <p:cNvPr id="32" name="Shape 30"/>
          <p:cNvSpPr/>
          <p:nvPr/>
        </p:nvSpPr>
        <p:spPr>
          <a:xfrm>
            <a:off x="5394960" y="5184648"/>
            <a:ext cx="91440" cy="868680"/>
          </a:xfrm>
          <a:prstGeom prst="rect">
            <a:avLst/>
          </a:prstGeom>
          <a:solidFill>
            <a:srgbClr val="EA4335"/>
          </a:solidFill>
          <a:ln/>
        </p:spPr>
      </p:sp>
      <p:sp>
        <p:nvSpPr>
          <p:cNvPr id="33" name="Text 31"/>
          <p:cNvSpPr/>
          <p:nvPr/>
        </p:nvSpPr>
        <p:spPr>
          <a:xfrm>
            <a:off x="5577840" y="5257800"/>
            <a:ext cx="1828800" cy="274320"/>
          </a:xfrm>
          <a:prstGeom prst="rect">
            <a:avLst/>
          </a:prstGeom>
          <a:noFill/>
          <a:ln/>
        </p:spPr>
        <p:txBody>
          <a:bodyPr wrap="square" lIns="0" tIns="0" rIns="0" bIns="0" rtlCol="0" anchor="ctr"/>
          <a:lstStyle/>
          <a:p>
            <a:pPr indent="0" marL="0">
              <a:buNone/>
            </a:pPr>
            <a:r>
              <a:rPr lang="en-US" sz="900" b="1" spc="600" kern="0" dirty="0">
                <a:solidFill>
                  <a:srgbClr val="9AA0A6"/>
                </a:solidFill>
                <a:latin typeface="Calibri" pitchFamily="34" charset="0"/>
                <a:ea typeface="Calibri" pitchFamily="34" charset="-122"/>
                <a:cs typeface="Calibri" pitchFamily="34" charset="-120"/>
              </a:rPr>
              <a:t>REJECTED</a:t>
            </a:r>
            <a:endParaRPr lang="en-US" sz="900" dirty="0"/>
          </a:p>
        </p:txBody>
      </p:sp>
      <p:sp>
        <p:nvSpPr>
          <p:cNvPr id="34" name="Text 32"/>
          <p:cNvSpPr/>
          <p:nvPr/>
        </p:nvSpPr>
        <p:spPr>
          <a:xfrm>
            <a:off x="5577840" y="5504688"/>
            <a:ext cx="2286000" cy="457200"/>
          </a:xfrm>
          <a:prstGeom prst="rect">
            <a:avLst/>
          </a:prstGeom>
          <a:noFill/>
          <a:ln/>
        </p:spPr>
        <p:txBody>
          <a:bodyPr wrap="square" lIns="0" tIns="0" rIns="0" bIns="0" rtlCol="0" anchor="ctr"/>
          <a:lstStyle/>
          <a:p>
            <a:pPr indent="0" marL="0">
              <a:buNone/>
            </a:pPr>
            <a:r>
              <a:rPr lang="en-US" sz="1600" b="1" dirty="0">
                <a:solidFill>
                  <a:srgbClr val="1F1F1F"/>
                </a:solidFill>
                <a:latin typeface="Georgia" pitchFamily="34" charset="0"/>
                <a:ea typeface="Georgia" pitchFamily="34" charset="-122"/>
                <a:cs typeface="Georgia" pitchFamily="34" charset="-120"/>
              </a:rPr>
              <a:t>Free Trial</a:t>
            </a:r>
            <a:endParaRPr lang="en-US" sz="1600" dirty="0"/>
          </a:p>
        </p:txBody>
      </p:sp>
      <p:sp>
        <p:nvSpPr>
          <p:cNvPr id="35" name="Text 33"/>
          <p:cNvSpPr/>
          <p:nvPr/>
        </p:nvSpPr>
        <p:spPr>
          <a:xfrm>
            <a:off x="7863840" y="5413248"/>
            <a:ext cx="1371600" cy="457200"/>
          </a:xfrm>
          <a:prstGeom prst="rect">
            <a:avLst/>
          </a:prstGeom>
          <a:noFill/>
          <a:ln/>
        </p:spPr>
        <p:txBody>
          <a:bodyPr wrap="square" lIns="0" tIns="0" rIns="0" bIns="0" rtlCol="0" anchor="ctr"/>
          <a:lstStyle/>
          <a:p>
            <a:pPr indent="0" marL="0">
              <a:buNone/>
            </a:pPr>
            <a:r>
              <a:rPr lang="en-US" sz="1600" b="1" dirty="0">
                <a:solidFill>
                  <a:srgbClr val="9AA0A6"/>
                </a:solidFill>
                <a:latin typeface="Consolas" pitchFamily="34" charset="0"/>
                <a:ea typeface="Consolas" pitchFamily="34" charset="-122"/>
                <a:cs typeface="Consolas" pitchFamily="34" charset="-120"/>
              </a:rPr>
              <a:t>+0.6pp</a:t>
            </a:r>
            <a:endParaRPr lang="en-US" sz="1600" dirty="0"/>
          </a:p>
        </p:txBody>
      </p:sp>
      <p:sp>
        <p:nvSpPr>
          <p:cNvPr id="36" name="Text 34"/>
          <p:cNvSpPr/>
          <p:nvPr/>
        </p:nvSpPr>
        <p:spPr>
          <a:xfrm>
            <a:off x="9144000" y="5294376"/>
            <a:ext cx="2606040" cy="713232"/>
          </a:xfrm>
          <a:prstGeom prst="rect">
            <a:avLst/>
          </a:prstGeom>
          <a:noFill/>
          <a:ln/>
        </p:spPr>
        <p:txBody>
          <a:bodyPr wrap="square" lIns="0" tIns="0" rIns="0" bIns="0" rtlCol="0" anchor="ctr"/>
          <a:lstStyle/>
          <a:p>
            <a:pPr indent="0" marL="0">
              <a:buNone/>
            </a:pPr>
            <a:r>
              <a:rPr lang="en-US" sz="1000" dirty="0">
                <a:solidFill>
                  <a:srgbClr val="1F1F1F"/>
                </a:solidFill>
                <a:latin typeface="Calibri" pitchFamily="34" charset="0"/>
                <a:ea typeface="Calibri" pitchFamily="34" charset="-122"/>
                <a:cs typeface="Calibri" pitchFamily="34" charset="-120"/>
              </a:rPr>
              <a:t>16× weaker than Life Hack. Doesn't move 18-24s.</a:t>
            </a:r>
            <a:endParaRPr lang="en-US" sz="1000" dirty="0"/>
          </a:p>
        </p:txBody>
      </p:sp>
      <p:sp>
        <p:nvSpPr>
          <p:cNvPr id="37" name="Text 35"/>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38" name="Text 36"/>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6 / 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HOW IT LANDS · PHASING</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Eight weeks, three phases, one finals deadline.</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Front-loaded brand build, mid-flight optimisation, final-push conversion.</a:t>
            </a:r>
            <a:endParaRPr lang="en-US" sz="1200" dirty="0"/>
          </a:p>
        </p:txBody>
      </p:sp>
      <p:sp>
        <p:nvSpPr>
          <p:cNvPr id="5" name="Shape 3"/>
          <p:cNvSpPr/>
          <p:nvPr/>
        </p:nvSpPr>
        <p:spPr>
          <a:xfrm>
            <a:off x="548640" y="1691640"/>
            <a:ext cx="3657600" cy="4572000"/>
          </a:xfrm>
          <a:prstGeom prst="rect">
            <a:avLst/>
          </a:prstGeom>
          <a:solidFill>
            <a:srgbClr val="FFFFFF"/>
          </a:solidFill>
          <a:ln w="12700">
            <a:solidFill>
              <a:srgbClr val="DADCE0"/>
            </a:solidFill>
            <a:prstDash val="solid"/>
          </a:ln>
        </p:spPr>
      </p:sp>
      <p:sp>
        <p:nvSpPr>
          <p:cNvPr id="6" name="Shape 4"/>
          <p:cNvSpPr/>
          <p:nvPr/>
        </p:nvSpPr>
        <p:spPr>
          <a:xfrm>
            <a:off x="548640" y="1691640"/>
            <a:ext cx="3657600" cy="457200"/>
          </a:xfrm>
          <a:prstGeom prst="rect">
            <a:avLst/>
          </a:prstGeom>
          <a:solidFill>
            <a:srgbClr val="1A73E8"/>
          </a:solidFill>
          <a:ln/>
        </p:spPr>
      </p:sp>
      <p:sp>
        <p:nvSpPr>
          <p:cNvPr id="7" name="Text 5"/>
          <p:cNvSpPr/>
          <p:nvPr/>
        </p:nvSpPr>
        <p:spPr>
          <a:xfrm>
            <a:off x="731520" y="1755648"/>
            <a:ext cx="347472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WEEKS 1–2</a:t>
            </a:r>
            <a:endParaRPr lang="en-US" sz="1100" dirty="0"/>
          </a:p>
        </p:txBody>
      </p:sp>
      <p:sp>
        <p:nvSpPr>
          <p:cNvPr id="8" name="Text 6"/>
          <p:cNvSpPr/>
          <p:nvPr/>
        </p:nvSpPr>
        <p:spPr>
          <a:xfrm>
            <a:off x="822960" y="2377440"/>
            <a:ext cx="3291840" cy="548640"/>
          </a:xfrm>
          <a:prstGeom prst="rect">
            <a:avLst/>
          </a:prstGeom>
          <a:noFill/>
          <a:ln/>
        </p:spPr>
        <p:txBody>
          <a:bodyPr wrap="square" lIns="0" tIns="0" rIns="0" bIns="0"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LAUNCH</a:t>
            </a:r>
            <a:endParaRPr lang="en-US" sz="2800" dirty="0"/>
          </a:p>
        </p:txBody>
      </p:sp>
      <p:sp>
        <p:nvSpPr>
          <p:cNvPr id="9" name="Text 7"/>
          <p:cNvSpPr/>
          <p:nvPr/>
        </p:nvSpPr>
        <p:spPr>
          <a:xfrm>
            <a:off x="822960" y="301752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CHANNEL MIX</a:t>
            </a:r>
            <a:endParaRPr lang="en-US" sz="900" dirty="0"/>
          </a:p>
        </p:txBody>
      </p:sp>
      <p:sp>
        <p:nvSpPr>
          <p:cNvPr id="10" name="Text 8"/>
          <p:cNvSpPr/>
          <p:nvPr/>
        </p:nvSpPr>
        <p:spPr>
          <a:xfrm>
            <a:off x="822960" y="3291840"/>
            <a:ext cx="3291840" cy="548640"/>
          </a:xfrm>
          <a:prstGeom prst="rect">
            <a:avLst/>
          </a:prstGeom>
          <a:noFill/>
          <a:ln/>
        </p:spPr>
        <p:txBody>
          <a:bodyPr wrap="square" lIns="0" tIns="0" rIns="0" bIns="0" rtlCol="0" anchor="ctr"/>
          <a:lstStyle/>
          <a:p>
            <a:pPr indent="0" marL="0">
              <a:buNone/>
            </a:pPr>
            <a:r>
              <a:rPr lang="en-US" sz="1200" dirty="0">
                <a:solidFill>
                  <a:srgbClr val="1A73E8"/>
                </a:solidFill>
                <a:latin typeface="Consolas" pitchFamily="34" charset="0"/>
                <a:ea typeface="Consolas" pitchFamily="34" charset="-122"/>
                <a:cs typeface="Consolas" pitchFamily="34" charset="-120"/>
              </a:rPr>
              <a:t>60% YouTube · 25% Social · 15% Search</a:t>
            </a:r>
            <a:endParaRPr lang="en-US" sz="1200" dirty="0"/>
          </a:p>
        </p:txBody>
      </p:sp>
      <p:sp>
        <p:nvSpPr>
          <p:cNvPr id="11" name="Text 9"/>
          <p:cNvSpPr/>
          <p:nvPr/>
        </p:nvSpPr>
        <p:spPr>
          <a:xfrm>
            <a:off x="822960" y="402336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OBJECTIVE</a:t>
            </a:r>
            <a:endParaRPr lang="en-US" sz="900" dirty="0"/>
          </a:p>
        </p:txBody>
      </p:sp>
      <p:sp>
        <p:nvSpPr>
          <p:cNvPr id="12" name="Text 10"/>
          <p:cNvSpPr/>
          <p:nvPr/>
        </p:nvSpPr>
        <p:spPr>
          <a:xfrm>
            <a:off x="822960" y="4297680"/>
            <a:ext cx="3291840" cy="182880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Build awareness fast. Hero creative everywhere. Set the brand temperature for the campaign.</a:t>
            </a:r>
            <a:endParaRPr lang="en-US" sz="1100" dirty="0"/>
          </a:p>
        </p:txBody>
      </p:sp>
      <p:sp>
        <p:nvSpPr>
          <p:cNvPr id="13" name="Shape 11"/>
          <p:cNvSpPr/>
          <p:nvPr/>
        </p:nvSpPr>
        <p:spPr>
          <a:xfrm>
            <a:off x="4389120" y="1691640"/>
            <a:ext cx="3657600" cy="4572000"/>
          </a:xfrm>
          <a:prstGeom prst="rect">
            <a:avLst/>
          </a:prstGeom>
          <a:solidFill>
            <a:srgbClr val="FFFFFF"/>
          </a:solidFill>
          <a:ln w="12700">
            <a:solidFill>
              <a:srgbClr val="DADCE0"/>
            </a:solidFill>
            <a:prstDash val="solid"/>
          </a:ln>
        </p:spPr>
      </p:sp>
      <p:sp>
        <p:nvSpPr>
          <p:cNvPr id="14" name="Shape 12"/>
          <p:cNvSpPr/>
          <p:nvPr/>
        </p:nvSpPr>
        <p:spPr>
          <a:xfrm>
            <a:off x="4389120" y="1691640"/>
            <a:ext cx="3657600" cy="457200"/>
          </a:xfrm>
          <a:prstGeom prst="rect">
            <a:avLst/>
          </a:prstGeom>
          <a:solidFill>
            <a:srgbClr val="188038"/>
          </a:solidFill>
          <a:ln/>
        </p:spPr>
      </p:sp>
      <p:sp>
        <p:nvSpPr>
          <p:cNvPr id="15" name="Text 13"/>
          <p:cNvSpPr/>
          <p:nvPr/>
        </p:nvSpPr>
        <p:spPr>
          <a:xfrm>
            <a:off x="4572000" y="1755648"/>
            <a:ext cx="347472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WEEKS 3–6</a:t>
            </a:r>
            <a:endParaRPr lang="en-US" sz="1100" dirty="0"/>
          </a:p>
        </p:txBody>
      </p:sp>
      <p:sp>
        <p:nvSpPr>
          <p:cNvPr id="16" name="Text 14"/>
          <p:cNvSpPr/>
          <p:nvPr/>
        </p:nvSpPr>
        <p:spPr>
          <a:xfrm>
            <a:off x="4663440" y="2377440"/>
            <a:ext cx="3291840" cy="548640"/>
          </a:xfrm>
          <a:prstGeom prst="rect">
            <a:avLst/>
          </a:prstGeom>
          <a:noFill/>
          <a:ln/>
        </p:spPr>
        <p:txBody>
          <a:bodyPr wrap="square" lIns="0" tIns="0" rIns="0" bIns="0"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OPTIMISE</a:t>
            </a:r>
            <a:endParaRPr lang="en-US" sz="2800" dirty="0"/>
          </a:p>
        </p:txBody>
      </p:sp>
      <p:sp>
        <p:nvSpPr>
          <p:cNvPr id="17" name="Text 15"/>
          <p:cNvSpPr/>
          <p:nvPr/>
        </p:nvSpPr>
        <p:spPr>
          <a:xfrm>
            <a:off x="4663440" y="301752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CHANNEL MIX</a:t>
            </a:r>
            <a:endParaRPr lang="en-US" sz="900" dirty="0"/>
          </a:p>
        </p:txBody>
      </p:sp>
      <p:sp>
        <p:nvSpPr>
          <p:cNvPr id="18" name="Text 16"/>
          <p:cNvSpPr/>
          <p:nvPr/>
        </p:nvSpPr>
        <p:spPr>
          <a:xfrm>
            <a:off x="4663440" y="3291840"/>
            <a:ext cx="3291840" cy="548640"/>
          </a:xfrm>
          <a:prstGeom prst="rect">
            <a:avLst/>
          </a:prstGeom>
          <a:noFill/>
          <a:ln/>
        </p:spPr>
        <p:txBody>
          <a:bodyPr wrap="square" lIns="0" tIns="0" rIns="0" bIns="0" rtlCol="0" anchor="ctr"/>
          <a:lstStyle/>
          <a:p>
            <a:pPr indent="0" marL="0">
              <a:buNone/>
            </a:pPr>
            <a:r>
              <a:rPr lang="en-US" sz="1200" dirty="0">
                <a:solidFill>
                  <a:srgbClr val="188038"/>
                </a:solidFill>
                <a:latin typeface="Consolas" pitchFamily="34" charset="0"/>
                <a:ea typeface="Consolas" pitchFamily="34" charset="-122"/>
                <a:cs typeface="Consolas" pitchFamily="34" charset="-120"/>
              </a:rPr>
              <a:t>35% YouTube · 35% Social · 30% Search</a:t>
            </a:r>
            <a:endParaRPr lang="en-US" sz="1200" dirty="0"/>
          </a:p>
        </p:txBody>
      </p:sp>
      <p:sp>
        <p:nvSpPr>
          <p:cNvPr id="19" name="Text 17"/>
          <p:cNvSpPr/>
          <p:nvPr/>
        </p:nvSpPr>
        <p:spPr>
          <a:xfrm>
            <a:off x="4663440" y="402336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OBJECTIVE</a:t>
            </a:r>
            <a:endParaRPr lang="en-US" sz="900" dirty="0"/>
          </a:p>
        </p:txBody>
      </p:sp>
      <p:sp>
        <p:nvSpPr>
          <p:cNvPr id="20" name="Text 18"/>
          <p:cNvSpPr/>
          <p:nvPr/>
        </p:nvSpPr>
        <p:spPr>
          <a:xfrm>
            <a:off x="4663440" y="4297680"/>
            <a:ext cx="3291840" cy="182880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Re-balance to live performance. Social ramps as creator content seeds organic reach. Search expands keyword set.</a:t>
            </a:r>
            <a:endParaRPr lang="en-US" sz="1100" dirty="0"/>
          </a:p>
        </p:txBody>
      </p:sp>
      <p:sp>
        <p:nvSpPr>
          <p:cNvPr id="21" name="Shape 19"/>
          <p:cNvSpPr/>
          <p:nvPr/>
        </p:nvSpPr>
        <p:spPr>
          <a:xfrm>
            <a:off x="8229600" y="1691640"/>
            <a:ext cx="3657600" cy="4572000"/>
          </a:xfrm>
          <a:prstGeom prst="rect">
            <a:avLst/>
          </a:prstGeom>
          <a:solidFill>
            <a:srgbClr val="FFFFFF"/>
          </a:solidFill>
          <a:ln w="12700">
            <a:solidFill>
              <a:srgbClr val="DADCE0"/>
            </a:solidFill>
            <a:prstDash val="solid"/>
          </a:ln>
        </p:spPr>
      </p:sp>
      <p:sp>
        <p:nvSpPr>
          <p:cNvPr id="22" name="Shape 20"/>
          <p:cNvSpPr/>
          <p:nvPr/>
        </p:nvSpPr>
        <p:spPr>
          <a:xfrm>
            <a:off x="8229600" y="1691640"/>
            <a:ext cx="3657600" cy="457200"/>
          </a:xfrm>
          <a:prstGeom prst="rect">
            <a:avLst/>
          </a:prstGeom>
          <a:solidFill>
            <a:srgbClr val="EA4335"/>
          </a:solidFill>
          <a:ln/>
        </p:spPr>
      </p:sp>
      <p:sp>
        <p:nvSpPr>
          <p:cNvPr id="23" name="Text 21"/>
          <p:cNvSpPr/>
          <p:nvPr/>
        </p:nvSpPr>
        <p:spPr>
          <a:xfrm>
            <a:off x="8412480" y="1755648"/>
            <a:ext cx="3474720" cy="36576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WEEKS 7–8</a:t>
            </a:r>
            <a:endParaRPr lang="en-US" sz="1100" dirty="0"/>
          </a:p>
        </p:txBody>
      </p:sp>
      <p:sp>
        <p:nvSpPr>
          <p:cNvPr id="24" name="Text 22"/>
          <p:cNvSpPr/>
          <p:nvPr/>
        </p:nvSpPr>
        <p:spPr>
          <a:xfrm>
            <a:off x="8503920" y="2377440"/>
            <a:ext cx="3291840" cy="548640"/>
          </a:xfrm>
          <a:prstGeom prst="rect">
            <a:avLst/>
          </a:prstGeom>
          <a:noFill/>
          <a:ln/>
        </p:spPr>
        <p:txBody>
          <a:bodyPr wrap="square" lIns="0" tIns="0" rIns="0" bIns="0" rtlCol="0" anchor="ctr"/>
          <a:lstStyle/>
          <a:p>
            <a:pPr indent="0" marL="0">
              <a:buNone/>
            </a:pPr>
            <a:r>
              <a:rPr lang="en-US" sz="2800" b="1" dirty="0">
                <a:solidFill>
                  <a:srgbClr val="1F1F1F"/>
                </a:solidFill>
                <a:latin typeface="Georgia" pitchFamily="34" charset="0"/>
                <a:ea typeface="Georgia" pitchFamily="34" charset="-122"/>
                <a:cs typeface="Georgia" pitchFamily="34" charset="-120"/>
              </a:rPr>
              <a:t>CONVERT</a:t>
            </a:r>
            <a:endParaRPr lang="en-US" sz="2800" dirty="0"/>
          </a:p>
        </p:txBody>
      </p:sp>
      <p:sp>
        <p:nvSpPr>
          <p:cNvPr id="25" name="Text 23"/>
          <p:cNvSpPr/>
          <p:nvPr/>
        </p:nvSpPr>
        <p:spPr>
          <a:xfrm>
            <a:off x="8503920" y="301752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CHANNEL MIX</a:t>
            </a:r>
            <a:endParaRPr lang="en-US" sz="900" dirty="0"/>
          </a:p>
        </p:txBody>
      </p:sp>
      <p:sp>
        <p:nvSpPr>
          <p:cNvPr id="26" name="Text 24"/>
          <p:cNvSpPr/>
          <p:nvPr/>
        </p:nvSpPr>
        <p:spPr>
          <a:xfrm>
            <a:off x="8503920" y="3291840"/>
            <a:ext cx="3291840" cy="548640"/>
          </a:xfrm>
          <a:prstGeom prst="rect">
            <a:avLst/>
          </a:prstGeom>
          <a:noFill/>
          <a:ln/>
        </p:spPr>
        <p:txBody>
          <a:bodyPr wrap="square" lIns="0" tIns="0" rIns="0" bIns="0" rtlCol="0" anchor="ctr"/>
          <a:lstStyle/>
          <a:p>
            <a:pPr indent="0" marL="0">
              <a:buNone/>
            </a:pPr>
            <a:r>
              <a:rPr lang="en-US" sz="1200" dirty="0">
                <a:solidFill>
                  <a:srgbClr val="EA4335"/>
                </a:solidFill>
                <a:latin typeface="Consolas" pitchFamily="34" charset="0"/>
                <a:ea typeface="Consolas" pitchFamily="34" charset="-122"/>
                <a:cs typeface="Consolas" pitchFamily="34" charset="-120"/>
              </a:rPr>
              <a:t>20% YouTube · 30% Social · 50% Search</a:t>
            </a:r>
            <a:endParaRPr lang="en-US" sz="1200" dirty="0"/>
          </a:p>
        </p:txBody>
      </p:sp>
      <p:sp>
        <p:nvSpPr>
          <p:cNvPr id="27" name="Text 25"/>
          <p:cNvSpPr/>
          <p:nvPr/>
        </p:nvSpPr>
        <p:spPr>
          <a:xfrm>
            <a:off x="8503920" y="4023360"/>
            <a:ext cx="3291840" cy="274320"/>
          </a:xfrm>
          <a:prstGeom prst="rect">
            <a:avLst/>
          </a:prstGeom>
          <a:noFill/>
          <a:ln/>
        </p:spPr>
        <p:txBody>
          <a:bodyPr wrap="square" lIns="0" tIns="0" rIns="0" bIns="0" rtlCol="0" anchor="ctr"/>
          <a:lstStyle/>
          <a:p>
            <a:pPr indent="0" marL="0">
              <a:buNone/>
            </a:pPr>
            <a:r>
              <a:rPr lang="en-US" sz="900" b="1" spc="600" kern="0" dirty="0">
                <a:solidFill>
                  <a:srgbClr val="5F6368"/>
                </a:solidFill>
                <a:latin typeface="Calibri" pitchFamily="34" charset="0"/>
                <a:ea typeface="Calibri" pitchFamily="34" charset="-122"/>
                <a:cs typeface="Calibri" pitchFamily="34" charset="-120"/>
              </a:rPr>
              <a:t>OBJECTIVE</a:t>
            </a:r>
            <a:endParaRPr lang="en-US" sz="900" dirty="0"/>
          </a:p>
        </p:txBody>
      </p:sp>
      <p:sp>
        <p:nvSpPr>
          <p:cNvPr id="28" name="Text 26"/>
          <p:cNvSpPr/>
          <p:nvPr/>
        </p:nvSpPr>
        <p:spPr>
          <a:xfrm>
            <a:off x="8503920" y="4297680"/>
            <a:ext cx="3291840" cy="1828800"/>
          </a:xfrm>
          <a:prstGeom prst="rect">
            <a:avLst/>
          </a:prstGeom>
          <a:noFill/>
          <a:ln/>
        </p:spPr>
        <p:txBody>
          <a:bodyPr wrap="square" lIns="0" tIns="0" rIns="0" bIns="0" rtlCol="0" anchor="ctr"/>
          <a:lstStyle/>
          <a:p>
            <a:pPr indent="0" marL="0">
              <a:buNone/>
            </a:pPr>
            <a:r>
              <a:rPr lang="en-US" sz="1100" dirty="0">
                <a:solidFill>
                  <a:srgbClr val="1F1F1F"/>
                </a:solidFill>
                <a:latin typeface="Calibri" pitchFamily="34" charset="0"/>
                <a:ea typeface="Calibri" pitchFamily="34" charset="-122"/>
                <a:cs typeface="Calibri" pitchFamily="34" charset="-120"/>
              </a:rPr>
              <a:t>Final push before 15 Sep cut-off. Search dominates for last-mile sign-ups. Social drives urgency.</a:t>
            </a:r>
            <a:endParaRPr lang="en-US" sz="1100" dirty="0"/>
          </a:p>
        </p:txBody>
      </p:sp>
      <p:sp>
        <p:nvSpPr>
          <p:cNvPr id="29" name="Text 27"/>
          <p:cNvSpPr/>
          <p:nvPr/>
        </p:nvSpPr>
        <p:spPr>
          <a:xfrm>
            <a:off x="548640" y="6355080"/>
            <a:ext cx="10972800" cy="274320"/>
          </a:xfrm>
          <a:prstGeom prst="rect">
            <a:avLst/>
          </a:prstGeom>
          <a:noFill/>
          <a:ln/>
        </p:spPr>
        <p:txBody>
          <a:bodyPr wrap="square" lIns="0" tIns="0" rIns="0" bIns="0" rtlCol="0" anchor="ctr"/>
          <a:lstStyle/>
          <a:p>
            <a:pPr indent="0" marL="0">
              <a:buNone/>
            </a:pPr>
            <a:r>
              <a:rPr lang="en-US" sz="1200" b="1" i="1" dirty="0">
                <a:solidFill>
                  <a:srgbClr val="1F1F1F"/>
                </a:solidFill>
                <a:latin typeface="Calibri" pitchFamily="34" charset="0"/>
                <a:ea typeface="Calibri" pitchFamily="34" charset="-122"/>
                <a:cs typeface="Calibri" pitchFamily="34" charset="-120"/>
              </a:rPr>
              <a:t>Sept 15 cut-off → exam-season retention drives long-term value. Every sign-up before deadline is locked in until end of finals 2026.</a:t>
            </a:r>
            <a:endParaRPr lang="en-US" sz="1200" dirty="0"/>
          </a:p>
        </p:txBody>
      </p:sp>
      <p:sp>
        <p:nvSpPr>
          <p:cNvPr id="30" name="Text 28"/>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31" name="Text 29"/>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7 / 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164592"/>
            <a:ext cx="10972800" cy="274320"/>
          </a:xfrm>
          <a:prstGeom prst="rect">
            <a:avLst/>
          </a:prstGeom>
          <a:noFill/>
          <a:ln/>
        </p:spPr>
        <p:txBody>
          <a:bodyPr wrap="square" lIns="0" tIns="0" rIns="0" bIns="0" rtlCol="0" anchor="ctr"/>
          <a:lstStyle/>
          <a:p>
            <a:pPr indent="0" marL="0">
              <a:buNone/>
            </a:pPr>
            <a:r>
              <a:rPr lang="en-US" sz="1000" b="1" spc="1000" kern="0" dirty="0">
                <a:solidFill>
                  <a:srgbClr val="1A73E8"/>
                </a:solidFill>
                <a:latin typeface="Calibri" pitchFamily="34" charset="0"/>
                <a:ea typeface="Calibri" pitchFamily="34" charset="-122"/>
                <a:cs typeface="Calibri" pitchFamily="34" charset="-120"/>
              </a:rPr>
              <a:t>HOW WE'LL KNOW IT WORKED · MEASUREMENT</a:t>
            </a:r>
            <a:endParaRPr lang="en-US" sz="1000" dirty="0"/>
          </a:p>
        </p:txBody>
      </p:sp>
      <p:sp>
        <p:nvSpPr>
          <p:cNvPr id="3" name="Text 1"/>
          <p:cNvSpPr/>
          <p:nvPr/>
        </p:nvSpPr>
        <p:spPr>
          <a:xfrm>
            <a:off x="548640" y="411480"/>
            <a:ext cx="10972800" cy="777240"/>
          </a:xfrm>
          <a:prstGeom prst="rect">
            <a:avLst/>
          </a:prstGeom>
          <a:noFill/>
          <a:ln/>
        </p:spPr>
        <p:txBody>
          <a:bodyPr wrap="square" lIns="0" tIns="0" rIns="0" bIns="0" rtlCol="0" anchor="ctr"/>
          <a:lstStyle/>
          <a:p>
            <a:pPr indent="0" marL="0">
              <a:buNone/>
            </a:pPr>
            <a:r>
              <a:rPr lang="en-US" sz="2600" b="1" dirty="0">
                <a:solidFill>
                  <a:srgbClr val="1F1F1F"/>
                </a:solidFill>
                <a:latin typeface="Calibri" pitchFamily="34" charset="0"/>
                <a:ea typeface="Calibri" pitchFamily="34" charset="-122"/>
                <a:cs typeface="Calibri" pitchFamily="34" charset="-120"/>
              </a:rPr>
              <a:t>Five KPIs. One dashboard. Weekly review cadence.</a:t>
            </a:r>
            <a:endParaRPr lang="en-US" sz="2600" dirty="0"/>
          </a:p>
        </p:txBody>
      </p:sp>
      <p:sp>
        <p:nvSpPr>
          <p:cNvPr id="4" name="Text 2"/>
          <p:cNvSpPr/>
          <p:nvPr/>
        </p:nvSpPr>
        <p:spPr>
          <a:xfrm>
            <a:off x="548640" y="1207008"/>
            <a:ext cx="10972800" cy="32004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Built around the brief, reach efficiency, consideration, sign-ups.</a:t>
            </a:r>
            <a:endParaRPr lang="en-US" sz="1200" dirty="0"/>
          </a:p>
        </p:txBody>
      </p:sp>
      <p:sp>
        <p:nvSpPr>
          <p:cNvPr id="5" name="Shape 3"/>
          <p:cNvSpPr/>
          <p:nvPr/>
        </p:nvSpPr>
        <p:spPr>
          <a:xfrm>
            <a:off x="548640" y="1691640"/>
            <a:ext cx="10972800" cy="777240"/>
          </a:xfrm>
          <a:prstGeom prst="rect">
            <a:avLst/>
          </a:prstGeom>
          <a:solidFill>
            <a:srgbClr val="FFFFFF"/>
          </a:solidFill>
          <a:ln w="12700">
            <a:solidFill>
              <a:srgbClr val="DADCE0"/>
            </a:solidFill>
            <a:prstDash val="solid"/>
          </a:ln>
        </p:spPr>
      </p:sp>
      <p:sp>
        <p:nvSpPr>
          <p:cNvPr id="6" name="Shape 4"/>
          <p:cNvSpPr/>
          <p:nvPr/>
        </p:nvSpPr>
        <p:spPr>
          <a:xfrm>
            <a:off x="548640" y="1691640"/>
            <a:ext cx="91440" cy="777240"/>
          </a:xfrm>
          <a:prstGeom prst="rect">
            <a:avLst/>
          </a:prstGeom>
          <a:solidFill>
            <a:srgbClr val="1A73E8"/>
          </a:solidFill>
          <a:ln/>
        </p:spPr>
      </p:sp>
      <p:sp>
        <p:nvSpPr>
          <p:cNvPr id="7" name="Text 5"/>
          <p:cNvSpPr/>
          <p:nvPr/>
        </p:nvSpPr>
        <p:spPr>
          <a:xfrm>
            <a:off x="777240" y="1783080"/>
            <a:ext cx="3657600" cy="594360"/>
          </a:xfrm>
          <a:prstGeom prst="rect">
            <a:avLst/>
          </a:prstGeom>
          <a:noFill/>
          <a:ln/>
        </p:spPr>
        <p:txBody>
          <a:bodyPr wrap="square" lIns="0" tIns="0" rIns="0" bIns="0"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Sign-ups</a:t>
            </a:r>
            <a:endParaRPr lang="en-US" sz="1800" dirty="0"/>
          </a:p>
        </p:txBody>
      </p:sp>
      <p:sp>
        <p:nvSpPr>
          <p:cNvPr id="8" name="Text 6"/>
          <p:cNvSpPr/>
          <p:nvPr/>
        </p:nvSpPr>
        <p:spPr>
          <a:xfrm>
            <a:off x="4572000" y="1783080"/>
            <a:ext cx="2286000" cy="594360"/>
          </a:xfrm>
          <a:prstGeom prst="rect">
            <a:avLst/>
          </a:prstGeom>
          <a:noFill/>
          <a:ln/>
        </p:spPr>
        <p:txBody>
          <a:bodyPr wrap="square" lIns="0" tIns="0" rIns="0" bIns="0" rtlCol="0" anchor="ctr"/>
          <a:lstStyle/>
          <a:p>
            <a:pPr indent="0" marL="0">
              <a:buNone/>
            </a:pPr>
            <a:r>
              <a:rPr lang="en-US" sz="2400" b="1" dirty="0">
                <a:solidFill>
                  <a:srgbClr val="1A73E8"/>
                </a:solidFill>
                <a:latin typeface="Georgia" pitchFamily="34" charset="0"/>
                <a:ea typeface="Georgia" pitchFamily="34" charset="-122"/>
                <a:cs typeface="Georgia" pitchFamily="34" charset="-120"/>
              </a:rPr>
              <a:t>1.18M</a:t>
            </a:r>
            <a:endParaRPr lang="en-US" sz="2400" dirty="0"/>
          </a:p>
        </p:txBody>
      </p:sp>
      <p:sp>
        <p:nvSpPr>
          <p:cNvPr id="9" name="Text 7"/>
          <p:cNvSpPr/>
          <p:nvPr/>
        </p:nvSpPr>
        <p:spPr>
          <a:xfrm>
            <a:off x="7040880" y="1783080"/>
            <a:ext cx="4572000" cy="59436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Primary KPI · 11.8K per $100K spent</a:t>
            </a:r>
            <a:endParaRPr lang="en-US" sz="1200" dirty="0"/>
          </a:p>
        </p:txBody>
      </p:sp>
      <p:sp>
        <p:nvSpPr>
          <p:cNvPr id="10" name="Shape 8"/>
          <p:cNvSpPr/>
          <p:nvPr/>
        </p:nvSpPr>
        <p:spPr>
          <a:xfrm>
            <a:off x="548640" y="2560320"/>
            <a:ext cx="10972800" cy="777240"/>
          </a:xfrm>
          <a:prstGeom prst="rect">
            <a:avLst/>
          </a:prstGeom>
          <a:solidFill>
            <a:srgbClr val="FFFFFF"/>
          </a:solidFill>
          <a:ln w="12700">
            <a:solidFill>
              <a:srgbClr val="DADCE0"/>
            </a:solidFill>
            <a:prstDash val="solid"/>
          </a:ln>
        </p:spPr>
      </p:sp>
      <p:sp>
        <p:nvSpPr>
          <p:cNvPr id="11" name="Shape 9"/>
          <p:cNvSpPr/>
          <p:nvPr/>
        </p:nvSpPr>
        <p:spPr>
          <a:xfrm>
            <a:off x="548640" y="2560320"/>
            <a:ext cx="91440" cy="777240"/>
          </a:xfrm>
          <a:prstGeom prst="rect">
            <a:avLst/>
          </a:prstGeom>
          <a:solidFill>
            <a:srgbClr val="188038"/>
          </a:solidFill>
          <a:ln/>
        </p:spPr>
      </p:sp>
      <p:sp>
        <p:nvSpPr>
          <p:cNvPr id="12" name="Text 10"/>
          <p:cNvSpPr/>
          <p:nvPr/>
        </p:nvSpPr>
        <p:spPr>
          <a:xfrm>
            <a:off x="777240" y="2651760"/>
            <a:ext cx="3657600" cy="594360"/>
          </a:xfrm>
          <a:prstGeom prst="rect">
            <a:avLst/>
          </a:prstGeom>
          <a:noFill/>
          <a:ln/>
        </p:spPr>
        <p:txBody>
          <a:bodyPr wrap="square" lIns="0" tIns="0" rIns="0" bIns="0"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Consideration lift</a:t>
            </a:r>
            <a:endParaRPr lang="en-US" sz="1800" dirty="0"/>
          </a:p>
        </p:txBody>
      </p:sp>
      <p:sp>
        <p:nvSpPr>
          <p:cNvPr id="13" name="Text 11"/>
          <p:cNvSpPr/>
          <p:nvPr/>
        </p:nvSpPr>
        <p:spPr>
          <a:xfrm>
            <a:off x="4572000" y="2651760"/>
            <a:ext cx="2286000" cy="594360"/>
          </a:xfrm>
          <a:prstGeom prst="rect">
            <a:avLst/>
          </a:prstGeom>
          <a:noFill/>
          <a:ln/>
        </p:spPr>
        <p:txBody>
          <a:bodyPr wrap="square" lIns="0" tIns="0" rIns="0" bIns="0" rtlCol="0" anchor="ctr"/>
          <a:lstStyle/>
          <a:p>
            <a:pPr indent="0" marL="0">
              <a:buNone/>
            </a:pPr>
            <a:r>
              <a:rPr lang="en-US" sz="2400" b="1" dirty="0">
                <a:solidFill>
                  <a:srgbClr val="188038"/>
                </a:solidFill>
                <a:latin typeface="Georgia" pitchFamily="34" charset="0"/>
                <a:ea typeface="Georgia" pitchFamily="34" charset="-122"/>
                <a:cs typeface="Georgia" pitchFamily="34" charset="-120"/>
              </a:rPr>
              <a:t>+8pp</a:t>
            </a:r>
            <a:endParaRPr lang="en-US" sz="2400" dirty="0"/>
          </a:p>
        </p:txBody>
      </p:sp>
      <p:sp>
        <p:nvSpPr>
          <p:cNvPr id="14" name="Text 12"/>
          <p:cNvSpPr/>
          <p:nvPr/>
        </p:nvSpPr>
        <p:spPr>
          <a:xfrm>
            <a:off x="7040880" y="2651760"/>
            <a:ext cx="4572000" cy="59436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Brand-lift study, week 4 + week 8 reads</a:t>
            </a:r>
            <a:endParaRPr lang="en-US" sz="1200" dirty="0"/>
          </a:p>
        </p:txBody>
      </p:sp>
      <p:sp>
        <p:nvSpPr>
          <p:cNvPr id="15" name="Shape 13"/>
          <p:cNvSpPr/>
          <p:nvPr/>
        </p:nvSpPr>
        <p:spPr>
          <a:xfrm>
            <a:off x="548640" y="3429000"/>
            <a:ext cx="10972800" cy="777240"/>
          </a:xfrm>
          <a:prstGeom prst="rect">
            <a:avLst/>
          </a:prstGeom>
          <a:solidFill>
            <a:srgbClr val="FFFFFF"/>
          </a:solidFill>
          <a:ln w="12700">
            <a:solidFill>
              <a:srgbClr val="DADCE0"/>
            </a:solidFill>
            <a:prstDash val="solid"/>
          </a:ln>
        </p:spPr>
      </p:sp>
      <p:sp>
        <p:nvSpPr>
          <p:cNvPr id="16" name="Shape 14"/>
          <p:cNvSpPr/>
          <p:nvPr/>
        </p:nvSpPr>
        <p:spPr>
          <a:xfrm>
            <a:off x="548640" y="3429000"/>
            <a:ext cx="91440" cy="777240"/>
          </a:xfrm>
          <a:prstGeom prst="rect">
            <a:avLst/>
          </a:prstGeom>
          <a:solidFill>
            <a:srgbClr val="1A73E8"/>
          </a:solidFill>
          <a:ln/>
        </p:spPr>
      </p:sp>
      <p:sp>
        <p:nvSpPr>
          <p:cNvPr id="17" name="Text 15"/>
          <p:cNvSpPr/>
          <p:nvPr/>
        </p:nvSpPr>
        <p:spPr>
          <a:xfrm>
            <a:off x="777240" y="3520440"/>
            <a:ext cx="3657600" cy="594360"/>
          </a:xfrm>
          <a:prstGeom prst="rect">
            <a:avLst/>
          </a:prstGeom>
          <a:noFill/>
          <a:ln/>
        </p:spPr>
        <p:txBody>
          <a:bodyPr wrap="square" lIns="0" tIns="0" rIns="0" bIns="0"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Cost per sign-up</a:t>
            </a:r>
            <a:endParaRPr lang="en-US" sz="1800" dirty="0"/>
          </a:p>
        </p:txBody>
      </p:sp>
      <p:sp>
        <p:nvSpPr>
          <p:cNvPr id="18" name="Text 16"/>
          <p:cNvSpPr/>
          <p:nvPr/>
        </p:nvSpPr>
        <p:spPr>
          <a:xfrm>
            <a:off x="4572000" y="3520440"/>
            <a:ext cx="2286000" cy="594360"/>
          </a:xfrm>
          <a:prstGeom prst="rect">
            <a:avLst/>
          </a:prstGeom>
          <a:noFill/>
          <a:ln/>
        </p:spPr>
        <p:txBody>
          <a:bodyPr wrap="square" lIns="0" tIns="0" rIns="0" bIns="0" rtlCol="0" anchor="ctr"/>
          <a:lstStyle/>
          <a:p>
            <a:pPr indent="0" marL="0">
              <a:buNone/>
            </a:pPr>
            <a:r>
              <a:rPr lang="en-US" sz="2400" b="1" dirty="0">
                <a:solidFill>
                  <a:srgbClr val="1A73E8"/>
                </a:solidFill>
                <a:latin typeface="Georgia" pitchFamily="34" charset="0"/>
                <a:ea typeface="Georgia" pitchFamily="34" charset="-122"/>
                <a:cs typeface="Georgia" pitchFamily="34" charset="-120"/>
              </a:rPr>
              <a:t>≤ $9</a:t>
            </a:r>
            <a:endParaRPr lang="en-US" sz="2400" dirty="0"/>
          </a:p>
        </p:txBody>
      </p:sp>
      <p:sp>
        <p:nvSpPr>
          <p:cNvPr id="19" name="Text 17"/>
          <p:cNvSpPr/>
          <p:nvPr/>
        </p:nvSpPr>
        <p:spPr>
          <a:xfrm>
            <a:off x="7040880" y="3520440"/>
            <a:ext cx="4572000" cy="59436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Blended target across markets</a:t>
            </a:r>
            <a:endParaRPr lang="en-US" sz="1200" dirty="0"/>
          </a:p>
        </p:txBody>
      </p:sp>
      <p:sp>
        <p:nvSpPr>
          <p:cNvPr id="20" name="Shape 18"/>
          <p:cNvSpPr/>
          <p:nvPr/>
        </p:nvSpPr>
        <p:spPr>
          <a:xfrm>
            <a:off x="548640" y="4297680"/>
            <a:ext cx="10972800" cy="777240"/>
          </a:xfrm>
          <a:prstGeom prst="rect">
            <a:avLst/>
          </a:prstGeom>
          <a:solidFill>
            <a:srgbClr val="FFFFFF"/>
          </a:solidFill>
          <a:ln w="12700">
            <a:solidFill>
              <a:srgbClr val="DADCE0"/>
            </a:solidFill>
            <a:prstDash val="solid"/>
          </a:ln>
        </p:spPr>
      </p:sp>
      <p:sp>
        <p:nvSpPr>
          <p:cNvPr id="21" name="Shape 19"/>
          <p:cNvSpPr/>
          <p:nvPr/>
        </p:nvSpPr>
        <p:spPr>
          <a:xfrm>
            <a:off x="548640" y="4297680"/>
            <a:ext cx="91440" cy="777240"/>
          </a:xfrm>
          <a:prstGeom prst="rect">
            <a:avLst/>
          </a:prstGeom>
          <a:solidFill>
            <a:srgbClr val="188038"/>
          </a:solidFill>
          <a:ln/>
        </p:spPr>
      </p:sp>
      <p:sp>
        <p:nvSpPr>
          <p:cNvPr id="22" name="Text 20"/>
          <p:cNvSpPr/>
          <p:nvPr/>
        </p:nvSpPr>
        <p:spPr>
          <a:xfrm>
            <a:off x="777240" y="4389120"/>
            <a:ext cx="3657600" cy="594360"/>
          </a:xfrm>
          <a:prstGeom prst="rect">
            <a:avLst/>
          </a:prstGeom>
          <a:noFill/>
          <a:ln/>
        </p:spPr>
        <p:txBody>
          <a:bodyPr wrap="square" lIns="0" tIns="0" rIns="0" bIns="0"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CPLU</a:t>
            </a:r>
            <a:endParaRPr lang="en-US" sz="1800" dirty="0"/>
          </a:p>
        </p:txBody>
      </p:sp>
      <p:sp>
        <p:nvSpPr>
          <p:cNvPr id="23" name="Text 21"/>
          <p:cNvSpPr/>
          <p:nvPr/>
        </p:nvSpPr>
        <p:spPr>
          <a:xfrm>
            <a:off x="4572000" y="4389120"/>
            <a:ext cx="2286000" cy="594360"/>
          </a:xfrm>
          <a:prstGeom prst="rect">
            <a:avLst/>
          </a:prstGeom>
          <a:noFill/>
          <a:ln/>
        </p:spPr>
        <p:txBody>
          <a:bodyPr wrap="square" lIns="0" tIns="0" rIns="0" bIns="0" rtlCol="0" anchor="ctr"/>
          <a:lstStyle/>
          <a:p>
            <a:pPr indent="0" marL="0">
              <a:buNone/>
            </a:pPr>
            <a:r>
              <a:rPr lang="en-US" sz="2400" b="1" dirty="0">
                <a:solidFill>
                  <a:srgbClr val="188038"/>
                </a:solidFill>
                <a:latin typeface="Georgia" pitchFamily="34" charset="0"/>
                <a:ea typeface="Georgia" pitchFamily="34" charset="-122"/>
                <a:cs typeface="Georgia" pitchFamily="34" charset="-120"/>
              </a:rPr>
              <a:t>≤ $0.40</a:t>
            </a:r>
            <a:endParaRPr lang="en-US" sz="2400" dirty="0"/>
          </a:p>
        </p:txBody>
      </p:sp>
      <p:sp>
        <p:nvSpPr>
          <p:cNvPr id="24" name="Text 22"/>
          <p:cNvSpPr/>
          <p:nvPr/>
        </p:nvSpPr>
        <p:spPr>
          <a:xfrm>
            <a:off x="7040880" y="4389120"/>
            <a:ext cx="4572000" cy="59436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Below historic avg ($0.36), top quartile</a:t>
            </a:r>
            <a:endParaRPr lang="en-US" sz="1200" dirty="0"/>
          </a:p>
        </p:txBody>
      </p:sp>
      <p:sp>
        <p:nvSpPr>
          <p:cNvPr id="25" name="Shape 23"/>
          <p:cNvSpPr/>
          <p:nvPr/>
        </p:nvSpPr>
        <p:spPr>
          <a:xfrm>
            <a:off x="548640" y="5166360"/>
            <a:ext cx="10972800" cy="777240"/>
          </a:xfrm>
          <a:prstGeom prst="rect">
            <a:avLst/>
          </a:prstGeom>
          <a:solidFill>
            <a:srgbClr val="FFFFFF"/>
          </a:solidFill>
          <a:ln w="12700">
            <a:solidFill>
              <a:srgbClr val="DADCE0"/>
            </a:solidFill>
            <a:prstDash val="solid"/>
          </a:ln>
        </p:spPr>
      </p:sp>
      <p:sp>
        <p:nvSpPr>
          <p:cNvPr id="26" name="Shape 24"/>
          <p:cNvSpPr/>
          <p:nvPr/>
        </p:nvSpPr>
        <p:spPr>
          <a:xfrm>
            <a:off x="548640" y="5166360"/>
            <a:ext cx="91440" cy="777240"/>
          </a:xfrm>
          <a:prstGeom prst="rect">
            <a:avLst/>
          </a:prstGeom>
          <a:solidFill>
            <a:srgbClr val="EA4335"/>
          </a:solidFill>
          <a:ln/>
        </p:spPr>
      </p:sp>
      <p:sp>
        <p:nvSpPr>
          <p:cNvPr id="27" name="Text 25"/>
          <p:cNvSpPr/>
          <p:nvPr/>
        </p:nvSpPr>
        <p:spPr>
          <a:xfrm>
            <a:off x="777240" y="5257800"/>
            <a:ext cx="3657600" cy="594360"/>
          </a:xfrm>
          <a:prstGeom prst="rect">
            <a:avLst/>
          </a:prstGeom>
          <a:noFill/>
          <a:ln/>
        </p:spPr>
        <p:txBody>
          <a:bodyPr wrap="square" lIns="0" tIns="0" rIns="0" bIns="0" rtlCol="0" anchor="ctr"/>
          <a:lstStyle/>
          <a:p>
            <a:pPr indent="0" marL="0">
              <a:buNone/>
            </a:pPr>
            <a:r>
              <a:rPr lang="en-US" sz="1800" b="1" dirty="0">
                <a:solidFill>
                  <a:srgbClr val="1F1F1F"/>
                </a:solidFill>
                <a:latin typeface="Georgia" pitchFamily="34" charset="0"/>
                <a:ea typeface="Georgia" pitchFamily="34" charset="-122"/>
                <a:cs typeface="Georgia" pitchFamily="34" charset="-120"/>
              </a:rPr>
              <a:t>Share of Voice (UK)</a:t>
            </a:r>
            <a:endParaRPr lang="en-US" sz="1800" dirty="0"/>
          </a:p>
        </p:txBody>
      </p:sp>
      <p:sp>
        <p:nvSpPr>
          <p:cNvPr id="28" name="Text 26"/>
          <p:cNvSpPr/>
          <p:nvPr/>
        </p:nvSpPr>
        <p:spPr>
          <a:xfrm>
            <a:off x="4572000" y="5257800"/>
            <a:ext cx="2286000" cy="594360"/>
          </a:xfrm>
          <a:prstGeom prst="rect">
            <a:avLst/>
          </a:prstGeom>
          <a:noFill/>
          <a:ln/>
        </p:spPr>
        <p:txBody>
          <a:bodyPr wrap="square" lIns="0" tIns="0" rIns="0" bIns="0" rtlCol="0" anchor="ctr"/>
          <a:lstStyle/>
          <a:p>
            <a:pPr indent="0" marL="0">
              <a:buNone/>
            </a:pPr>
            <a:r>
              <a:rPr lang="en-US" sz="2400" b="1" dirty="0">
                <a:solidFill>
                  <a:srgbClr val="EA4335"/>
                </a:solidFill>
                <a:latin typeface="Georgia" pitchFamily="34" charset="0"/>
                <a:ea typeface="Georgia" pitchFamily="34" charset="-122"/>
                <a:cs typeface="Georgia" pitchFamily="34" charset="-120"/>
              </a:rPr>
              <a:t>30%+</a:t>
            </a:r>
            <a:endParaRPr lang="en-US" sz="2400" dirty="0"/>
          </a:p>
        </p:txBody>
      </p:sp>
      <p:sp>
        <p:nvSpPr>
          <p:cNvPr id="29" name="Text 27"/>
          <p:cNvSpPr/>
          <p:nvPr/>
        </p:nvSpPr>
        <p:spPr>
          <a:xfrm>
            <a:off x="7040880" y="5257800"/>
            <a:ext cx="4572000" cy="594360"/>
          </a:xfrm>
          <a:prstGeom prst="rect">
            <a:avLst/>
          </a:prstGeom>
          <a:noFill/>
          <a:ln/>
        </p:spPr>
        <p:txBody>
          <a:bodyPr wrap="square" lIns="0" tIns="0" rIns="0" bIns="0" rtlCol="0" anchor="ctr"/>
          <a:lstStyle/>
          <a:p>
            <a:pPr indent="0" marL="0">
              <a:buNone/>
            </a:pPr>
            <a:r>
              <a:rPr lang="en-US" sz="1200" dirty="0">
                <a:solidFill>
                  <a:srgbClr val="5F6368"/>
                </a:solidFill>
                <a:latin typeface="Calibri" pitchFamily="34" charset="0"/>
                <a:ea typeface="Calibri" pitchFamily="34" charset="-122"/>
                <a:cs typeface="Calibri" pitchFamily="34" charset="-120"/>
              </a:rPr>
              <a:t>From 20% baseline · close gap on ChatGPT</a:t>
            </a:r>
            <a:endParaRPr lang="en-US" sz="1200" dirty="0"/>
          </a:p>
        </p:txBody>
      </p:sp>
      <p:sp>
        <p:nvSpPr>
          <p:cNvPr id="30" name="Text 28"/>
          <p:cNvSpPr/>
          <p:nvPr/>
        </p:nvSpPr>
        <p:spPr>
          <a:xfrm>
            <a:off x="548640" y="6263640"/>
            <a:ext cx="10972800" cy="365760"/>
          </a:xfrm>
          <a:prstGeom prst="rect">
            <a:avLst/>
          </a:prstGeom>
          <a:noFill/>
          <a:ln/>
        </p:spPr>
        <p:txBody>
          <a:bodyPr wrap="square" lIns="0" tIns="0" rIns="0" bIns="0" rtlCol="0" anchor="ctr"/>
          <a:lstStyle/>
          <a:p>
            <a:pPr indent="0" marL="0">
              <a:buNone/>
            </a:pPr>
            <a:r>
              <a:rPr lang="en-US" sz="1200" i="1" dirty="0">
                <a:solidFill>
                  <a:srgbClr val="1F1F1F"/>
                </a:solidFill>
                <a:latin typeface="Calibri" pitchFamily="34" charset="0"/>
                <a:ea typeface="Calibri" pitchFamily="34" charset="-122"/>
                <a:cs typeface="Calibri" pitchFamily="34" charset="-120"/>
              </a:rPr>
              <a:t>Reviews every Friday. If any KPI trails forecast at week 4, reallocate from the lowest-CPLU market into the highest. Decision rules are pre-agreed.</a:t>
            </a:r>
            <a:endParaRPr lang="en-US" sz="1200" dirty="0"/>
          </a:p>
        </p:txBody>
      </p:sp>
      <p:sp>
        <p:nvSpPr>
          <p:cNvPr id="31" name="Text 29"/>
          <p:cNvSpPr/>
          <p:nvPr/>
        </p:nvSpPr>
        <p:spPr>
          <a:xfrm>
            <a:off x="548640" y="6565392"/>
            <a:ext cx="8229600" cy="228600"/>
          </a:xfrm>
          <a:prstGeom prst="rect">
            <a:avLst/>
          </a:prstGeom>
          <a:noFill/>
          <a:ln/>
        </p:spPr>
        <p:txBody>
          <a:bodyPr wrap="square" lIns="0" tIns="0" rIns="0" bIns="0" rtlCol="0" anchor="ctr"/>
          <a:lstStyle/>
          <a:p>
            <a:pPr indent="0" marL="0">
              <a:buNone/>
            </a:pPr>
            <a:r>
              <a:rPr lang="en-US" sz="900" dirty="0">
                <a:solidFill>
                  <a:srgbClr val="9AA0A6"/>
                </a:solidFill>
                <a:latin typeface="Calibri" pitchFamily="34" charset="0"/>
                <a:ea typeface="Calibri" pitchFamily="34" charset="-122"/>
                <a:cs typeface="Calibri" pitchFamily="34" charset="-120"/>
              </a:rPr>
              <a:t>Task B · Data Strategist · Gemini Pro Student Launch</a:t>
            </a:r>
            <a:endParaRPr lang="en-US" sz="900" dirty="0"/>
          </a:p>
        </p:txBody>
      </p:sp>
      <p:sp>
        <p:nvSpPr>
          <p:cNvPr id="32" name="Text 30"/>
          <p:cNvSpPr/>
          <p:nvPr/>
        </p:nvSpPr>
        <p:spPr>
          <a:xfrm>
            <a:off x="10972800" y="6565392"/>
            <a:ext cx="640080" cy="228600"/>
          </a:xfrm>
          <a:prstGeom prst="rect">
            <a:avLst/>
          </a:prstGeom>
          <a:noFill/>
          <a:ln/>
        </p:spPr>
        <p:txBody>
          <a:bodyPr wrap="square" lIns="0" tIns="0" rIns="0" bIns="0" rtlCol="0" anchor="ctr"/>
          <a:lstStyle/>
          <a:p>
            <a:pPr algn="r" indent="0" marL="0">
              <a:buNone/>
            </a:pPr>
            <a:r>
              <a:rPr lang="en-US" sz="900" dirty="0">
                <a:solidFill>
                  <a:srgbClr val="9AA0A6"/>
                </a:solidFill>
                <a:latin typeface="Calibri" pitchFamily="34" charset="0"/>
                <a:ea typeface="Calibri" pitchFamily="34" charset="-122"/>
                <a:cs typeface="Calibri" pitchFamily="34" charset="-120"/>
              </a:rPr>
              <a:t>8 / 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1F1F"/>
        </a:solidFill>
      </p:bgPr>
    </p:bg>
    <p:spTree>
      <p:nvGrpSpPr>
        <p:cNvPr id="1" name=""/>
        <p:cNvGrpSpPr/>
        <p:nvPr/>
      </p:nvGrpSpPr>
      <p:grpSpPr>
        <a:xfrm>
          <a:off x="0" y="0"/>
          <a:ext cx="0" cy="0"/>
          <a:chOff x="0" y="0"/>
          <a:chExt cx="0" cy="0"/>
        </a:xfrm>
      </p:grpSpPr>
      <p:sp>
        <p:nvSpPr>
          <p:cNvPr id="2" name="Text 0"/>
          <p:cNvSpPr/>
          <p:nvPr/>
        </p:nvSpPr>
        <p:spPr>
          <a:xfrm>
            <a:off x="548640" y="457200"/>
            <a:ext cx="10972800" cy="365760"/>
          </a:xfrm>
          <a:prstGeom prst="rect">
            <a:avLst/>
          </a:prstGeom>
          <a:noFill/>
          <a:ln/>
        </p:spPr>
        <p:txBody>
          <a:bodyPr wrap="square" lIns="0" tIns="0" rIns="0" bIns="0" rtlCol="0" anchor="ctr"/>
          <a:lstStyle/>
          <a:p>
            <a:pPr indent="0" marL="0">
              <a:buNone/>
            </a:pPr>
            <a:r>
              <a:rPr lang="en-US" sz="1100" b="1" spc="1200" kern="0" dirty="0">
                <a:solidFill>
                  <a:srgbClr val="F9AB00"/>
                </a:solidFill>
                <a:latin typeface="Calibri" pitchFamily="34" charset="0"/>
                <a:ea typeface="Calibri" pitchFamily="34" charset="-122"/>
                <a:cs typeface="Calibri" pitchFamily="34" charset="-120"/>
              </a:rPr>
              <a:t>THE FOUR DECISIONS</a:t>
            </a:r>
            <a:endParaRPr lang="en-US" sz="1100" dirty="0"/>
          </a:p>
        </p:txBody>
      </p:sp>
      <p:sp>
        <p:nvSpPr>
          <p:cNvPr id="3" name="Text 1"/>
          <p:cNvSpPr/>
          <p:nvPr/>
        </p:nvSpPr>
        <p:spPr>
          <a:xfrm>
            <a:off x="548640" y="86868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If the team only takes four things from this deck.</a:t>
            </a:r>
            <a:endParaRPr lang="en-US" sz="3600" dirty="0"/>
          </a:p>
        </p:txBody>
      </p:sp>
      <p:sp>
        <p:nvSpPr>
          <p:cNvPr id="4" name="Text 2"/>
          <p:cNvSpPr/>
          <p:nvPr/>
        </p:nvSpPr>
        <p:spPr>
          <a:xfrm>
            <a:off x="548640" y="2194560"/>
            <a:ext cx="731520" cy="731520"/>
          </a:xfrm>
          <a:prstGeom prst="rect">
            <a:avLst/>
          </a:prstGeom>
          <a:noFill/>
          <a:ln/>
        </p:spPr>
        <p:txBody>
          <a:bodyPr wrap="square" lIns="0" tIns="0" rIns="0" bIns="0" rtlCol="0" anchor="ctr"/>
          <a:lstStyle/>
          <a:p>
            <a:pPr indent="0" marL="0">
              <a:buNone/>
            </a:pPr>
            <a:r>
              <a:rPr lang="en-US" sz="5600" b="1" dirty="0">
                <a:solidFill>
                  <a:srgbClr val="F9AB00"/>
                </a:solidFill>
                <a:latin typeface="Georgia" pitchFamily="34" charset="0"/>
                <a:ea typeface="Georgia" pitchFamily="34" charset="-122"/>
                <a:cs typeface="Georgia" pitchFamily="34" charset="-120"/>
              </a:rPr>
              <a:t>1</a:t>
            </a:r>
            <a:endParaRPr lang="en-US" sz="5600" dirty="0"/>
          </a:p>
        </p:txBody>
      </p:sp>
      <p:sp>
        <p:nvSpPr>
          <p:cNvPr id="5" name="Text 3"/>
          <p:cNvSpPr/>
          <p:nvPr/>
        </p:nvSpPr>
        <p:spPr>
          <a:xfrm>
            <a:off x="1463040" y="224028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Markets</a:t>
            </a:r>
            <a:endParaRPr lang="en-US" sz="2200" dirty="0"/>
          </a:p>
        </p:txBody>
      </p:sp>
      <p:sp>
        <p:nvSpPr>
          <p:cNvPr id="6" name="Text 4"/>
          <p:cNvSpPr/>
          <p:nvPr/>
        </p:nvSpPr>
        <p:spPr>
          <a:xfrm>
            <a:off x="4297680" y="2331720"/>
            <a:ext cx="7315200" cy="640080"/>
          </a:xfrm>
          <a:prstGeom prst="rect">
            <a:avLst/>
          </a:prstGeom>
          <a:noFill/>
          <a:ln/>
        </p:spPr>
        <p:txBody>
          <a:bodyPr wrap="square" lIns="0" tIns="0" rIns="0" bIns="0" rtlCol="0" anchor="ctr"/>
          <a:lstStyle/>
          <a:p>
            <a:pPr indent="0" marL="0">
              <a:buNone/>
            </a:pPr>
            <a:r>
              <a:rPr lang="en-US" sz="1400" dirty="0">
                <a:solidFill>
                  <a:srgbClr val="C0C5CC"/>
                </a:solidFill>
                <a:latin typeface="Calibri" pitchFamily="34" charset="0"/>
                <a:ea typeface="Calibri" pitchFamily="34" charset="-122"/>
                <a:cs typeface="Calibri" pitchFamily="34" charset="-120"/>
              </a:rPr>
              <a:t>UK · EG · SA. Drop DE, same CPA as UK without the brand-HQ value.</a:t>
            </a:r>
            <a:endParaRPr lang="en-US" sz="1400" dirty="0"/>
          </a:p>
        </p:txBody>
      </p:sp>
      <p:sp>
        <p:nvSpPr>
          <p:cNvPr id="7" name="Text 5"/>
          <p:cNvSpPr/>
          <p:nvPr/>
        </p:nvSpPr>
        <p:spPr>
          <a:xfrm>
            <a:off x="548640" y="3154680"/>
            <a:ext cx="731520" cy="731520"/>
          </a:xfrm>
          <a:prstGeom prst="rect">
            <a:avLst/>
          </a:prstGeom>
          <a:noFill/>
          <a:ln/>
        </p:spPr>
        <p:txBody>
          <a:bodyPr wrap="square" lIns="0" tIns="0" rIns="0" bIns="0" rtlCol="0" anchor="ctr"/>
          <a:lstStyle/>
          <a:p>
            <a:pPr indent="0" marL="0">
              <a:buNone/>
            </a:pPr>
            <a:r>
              <a:rPr lang="en-US" sz="5600" b="1" dirty="0">
                <a:solidFill>
                  <a:srgbClr val="F9AB00"/>
                </a:solidFill>
                <a:latin typeface="Georgia" pitchFamily="34" charset="0"/>
                <a:ea typeface="Georgia" pitchFamily="34" charset="-122"/>
                <a:cs typeface="Georgia" pitchFamily="34" charset="-120"/>
              </a:rPr>
              <a:t>2</a:t>
            </a:r>
            <a:endParaRPr lang="en-US" sz="5600" dirty="0"/>
          </a:p>
        </p:txBody>
      </p:sp>
      <p:sp>
        <p:nvSpPr>
          <p:cNvPr id="8" name="Text 6"/>
          <p:cNvSpPr/>
          <p:nvPr/>
        </p:nvSpPr>
        <p:spPr>
          <a:xfrm>
            <a:off x="1463040" y="320040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Channels</a:t>
            </a:r>
            <a:endParaRPr lang="en-US" sz="2200" dirty="0"/>
          </a:p>
        </p:txBody>
      </p:sp>
      <p:sp>
        <p:nvSpPr>
          <p:cNvPr id="9" name="Text 7"/>
          <p:cNvSpPr/>
          <p:nvPr/>
        </p:nvSpPr>
        <p:spPr>
          <a:xfrm>
            <a:off x="4297680" y="3291840"/>
            <a:ext cx="7315200" cy="640080"/>
          </a:xfrm>
          <a:prstGeom prst="rect">
            <a:avLst/>
          </a:prstGeom>
          <a:noFill/>
          <a:ln/>
        </p:spPr>
        <p:txBody>
          <a:bodyPr wrap="square" lIns="0" tIns="0" rIns="0" bIns="0" rtlCol="0" anchor="ctr"/>
          <a:lstStyle/>
          <a:p>
            <a:pPr indent="0" marL="0">
              <a:buNone/>
            </a:pPr>
            <a:r>
              <a:rPr lang="en-US" sz="1400" dirty="0">
                <a:solidFill>
                  <a:srgbClr val="C0C5CC"/>
                </a:solidFill>
                <a:latin typeface="Calibri" pitchFamily="34" charset="0"/>
                <a:ea typeface="Calibri" pitchFamily="34" charset="-122"/>
                <a:cs typeface="Calibri" pitchFamily="34" charset="-120"/>
              </a:rPr>
              <a:t>YouTube + Social + Search. No Display, 0/16 stat-sig studies.</a:t>
            </a:r>
            <a:endParaRPr lang="en-US" sz="1400" dirty="0"/>
          </a:p>
        </p:txBody>
      </p:sp>
      <p:sp>
        <p:nvSpPr>
          <p:cNvPr id="10" name="Text 8"/>
          <p:cNvSpPr/>
          <p:nvPr/>
        </p:nvSpPr>
        <p:spPr>
          <a:xfrm>
            <a:off x="548640" y="4114800"/>
            <a:ext cx="731520" cy="731520"/>
          </a:xfrm>
          <a:prstGeom prst="rect">
            <a:avLst/>
          </a:prstGeom>
          <a:noFill/>
          <a:ln/>
        </p:spPr>
        <p:txBody>
          <a:bodyPr wrap="square" lIns="0" tIns="0" rIns="0" bIns="0" rtlCol="0" anchor="ctr"/>
          <a:lstStyle/>
          <a:p>
            <a:pPr indent="0" marL="0">
              <a:buNone/>
            </a:pPr>
            <a:r>
              <a:rPr lang="en-US" sz="5600" b="1" dirty="0">
                <a:solidFill>
                  <a:srgbClr val="F9AB00"/>
                </a:solidFill>
                <a:latin typeface="Georgia" pitchFamily="34" charset="0"/>
                <a:ea typeface="Georgia" pitchFamily="34" charset="-122"/>
                <a:cs typeface="Georgia" pitchFamily="34" charset="-120"/>
              </a:rPr>
              <a:t>3</a:t>
            </a:r>
            <a:endParaRPr lang="en-US" sz="5600" dirty="0"/>
          </a:p>
        </p:txBody>
      </p:sp>
      <p:sp>
        <p:nvSpPr>
          <p:cNvPr id="11" name="Text 9"/>
          <p:cNvSpPr/>
          <p:nvPr/>
        </p:nvSpPr>
        <p:spPr>
          <a:xfrm>
            <a:off x="1463040" y="416052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Budget</a:t>
            </a:r>
            <a:endParaRPr lang="en-US" sz="2200" dirty="0"/>
          </a:p>
        </p:txBody>
      </p:sp>
      <p:sp>
        <p:nvSpPr>
          <p:cNvPr id="12" name="Text 10"/>
          <p:cNvSpPr/>
          <p:nvPr/>
        </p:nvSpPr>
        <p:spPr>
          <a:xfrm>
            <a:off x="4297680" y="4251960"/>
            <a:ext cx="7315200" cy="640080"/>
          </a:xfrm>
          <a:prstGeom prst="rect">
            <a:avLst/>
          </a:prstGeom>
          <a:noFill/>
          <a:ln/>
        </p:spPr>
        <p:txBody>
          <a:bodyPr wrap="square" lIns="0" tIns="0" rIns="0" bIns="0" rtlCol="0" anchor="ctr"/>
          <a:lstStyle/>
          <a:p>
            <a:pPr indent="0" marL="0">
              <a:buNone/>
            </a:pPr>
            <a:r>
              <a:rPr lang="en-US" sz="1400" dirty="0">
                <a:solidFill>
                  <a:srgbClr val="C0C5CC"/>
                </a:solidFill>
                <a:latin typeface="Calibri" pitchFamily="34" charset="0"/>
                <a:ea typeface="Calibri" pitchFamily="34" charset="-122"/>
                <a:cs typeface="Calibri" pitchFamily="34" charset="-120"/>
              </a:rPr>
              <a:t>$10M split 35/35/30 across markets · 40/30/30 across channels.</a:t>
            </a:r>
            <a:endParaRPr lang="en-US" sz="1400" dirty="0"/>
          </a:p>
        </p:txBody>
      </p:sp>
      <p:sp>
        <p:nvSpPr>
          <p:cNvPr id="13" name="Text 11"/>
          <p:cNvSpPr/>
          <p:nvPr/>
        </p:nvSpPr>
        <p:spPr>
          <a:xfrm>
            <a:off x="548640" y="5074920"/>
            <a:ext cx="731520" cy="731520"/>
          </a:xfrm>
          <a:prstGeom prst="rect">
            <a:avLst/>
          </a:prstGeom>
          <a:noFill/>
          <a:ln/>
        </p:spPr>
        <p:txBody>
          <a:bodyPr wrap="square" lIns="0" tIns="0" rIns="0" bIns="0" rtlCol="0" anchor="ctr"/>
          <a:lstStyle/>
          <a:p>
            <a:pPr indent="0" marL="0">
              <a:buNone/>
            </a:pPr>
            <a:r>
              <a:rPr lang="en-US" sz="5600" b="1" dirty="0">
                <a:solidFill>
                  <a:srgbClr val="F9AB00"/>
                </a:solidFill>
                <a:latin typeface="Georgia" pitchFamily="34" charset="0"/>
                <a:ea typeface="Georgia" pitchFamily="34" charset="-122"/>
                <a:cs typeface="Georgia" pitchFamily="34" charset="-120"/>
              </a:rPr>
              <a:t>4</a:t>
            </a:r>
            <a:endParaRPr lang="en-US" sz="5600" dirty="0"/>
          </a:p>
        </p:txBody>
      </p:sp>
      <p:sp>
        <p:nvSpPr>
          <p:cNvPr id="14" name="Text 12"/>
          <p:cNvSpPr/>
          <p:nvPr/>
        </p:nvSpPr>
        <p:spPr>
          <a:xfrm>
            <a:off x="1463040" y="5120640"/>
            <a:ext cx="2743200" cy="457200"/>
          </a:xfrm>
          <a:prstGeom prst="rect">
            <a:avLst/>
          </a:prstGeom>
          <a:noFill/>
          <a:ln/>
        </p:spPr>
        <p:txBody>
          <a:bodyPr wrap="square" lIns="0" tIns="0" rIns="0" bIns="0" rtlCol="0" anchor="ctr"/>
          <a:lstStyle/>
          <a:p>
            <a:pPr indent="0" marL="0">
              <a:buNone/>
            </a:pPr>
            <a:r>
              <a:rPr lang="en-US" sz="2200" b="1" dirty="0">
                <a:solidFill>
                  <a:srgbClr val="FFFFFF"/>
                </a:solidFill>
                <a:latin typeface="Georgia" pitchFamily="34" charset="0"/>
                <a:ea typeface="Georgia" pitchFamily="34" charset="-122"/>
                <a:cs typeface="Georgia" pitchFamily="34" charset="-120"/>
              </a:rPr>
              <a:t>Creative</a:t>
            </a:r>
            <a:endParaRPr lang="en-US" sz="2200" dirty="0"/>
          </a:p>
        </p:txBody>
      </p:sp>
      <p:sp>
        <p:nvSpPr>
          <p:cNvPr id="15" name="Text 13"/>
          <p:cNvSpPr/>
          <p:nvPr/>
        </p:nvSpPr>
        <p:spPr>
          <a:xfrm>
            <a:off x="4297680" y="5212080"/>
            <a:ext cx="7315200" cy="640080"/>
          </a:xfrm>
          <a:prstGeom prst="rect">
            <a:avLst/>
          </a:prstGeom>
          <a:noFill/>
          <a:ln/>
        </p:spPr>
        <p:txBody>
          <a:bodyPr wrap="square" lIns="0" tIns="0" rIns="0" bIns="0" rtlCol="0" anchor="ctr"/>
          <a:lstStyle/>
          <a:p>
            <a:pPr indent="0" marL="0">
              <a:buNone/>
            </a:pPr>
            <a:r>
              <a:rPr lang="en-US" sz="1400" dirty="0">
                <a:solidFill>
                  <a:srgbClr val="C0C5CC"/>
                </a:solidFill>
                <a:latin typeface="Calibri" pitchFamily="34" charset="0"/>
                <a:ea typeface="Calibri" pitchFamily="34" charset="-122"/>
                <a:cs typeface="Calibri" pitchFamily="34" charset="-120"/>
              </a:rPr>
              <a:t>Life Hack lead in every market. Coding Help &amp; Study With Me as supports.</a:t>
            </a:r>
            <a:endParaRPr lang="en-US" sz="1400" dirty="0"/>
          </a:p>
        </p:txBody>
      </p:sp>
      <p:sp>
        <p:nvSpPr>
          <p:cNvPr id="16" name="Text 14"/>
          <p:cNvSpPr/>
          <p:nvPr/>
        </p:nvSpPr>
        <p:spPr>
          <a:xfrm>
            <a:off x="548640" y="6263640"/>
            <a:ext cx="10972800" cy="365760"/>
          </a:xfrm>
          <a:prstGeom prst="rect">
            <a:avLst/>
          </a:prstGeom>
          <a:noFill/>
          <a:ln/>
        </p:spPr>
        <p:txBody>
          <a:bodyPr wrap="square" lIns="0" tIns="0" rIns="0" bIns="0" rtlCol="0" anchor="ctr"/>
          <a:lstStyle/>
          <a:p>
            <a:pPr indent="0" marL="0">
              <a:buNone/>
            </a:pPr>
            <a:r>
              <a:rPr lang="en-US" sz="1200" i="1" dirty="0">
                <a:solidFill>
                  <a:srgbClr val="9AA0A6"/>
                </a:solidFill>
                <a:latin typeface="Calibri" pitchFamily="34" charset="0"/>
                <a:ea typeface="Calibri" pitchFamily="34" charset="-122"/>
                <a:cs typeface="Calibri" pitchFamily="34" charset="-120"/>
              </a:rPr>
              <a:t>Forecast: ~1.18M Gemini Pro sign-ups · +8pp consideration lift · 30%+ UK SOV by Sept 15.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2026-05-06T21:40:06Z</dcterms:created>
  <dcterms:modified xsi:type="dcterms:W3CDTF">2026-05-06T21:40:06Z</dcterms:modified>
</cp:coreProperties>
</file>